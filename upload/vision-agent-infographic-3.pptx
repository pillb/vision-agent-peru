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Agent — Strategic Brief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445752" y="91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  ·  Peru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116430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evolved through four stages — each adding capabilities the previous lacked, culminating in systems that act autonomously with human governance.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807894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2807894" cy="54864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97280"/>
            <a:ext cx="2625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1261872"/>
            <a:ext cx="262501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Programs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481328"/>
            <a:ext cx="262501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encode rules; the system executes deterministic logic. Every decision is auditable because a human wrote each rule. No learning or adaptation.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176272"/>
            <a:ext cx="262501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2322576"/>
            <a:ext cx="262501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People &amp; vehicle counting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Zone intrusion detection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Queue monitoring at entrances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Parking availability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Loading bay dwell time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19374" y="1005840"/>
            <a:ext cx="2807894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9374" y="1005840"/>
            <a:ext cx="2807894" cy="54864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814" y="1097280"/>
            <a:ext cx="2625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10814" y="1261872"/>
            <a:ext cx="262501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Deep Learning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814" y="1481328"/>
            <a:ext cx="262501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learn patterns from data. No human writes the rules — the model discovers them. Perception at scale: classification, anomaly detection, pattern recognition.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10814" y="2176272"/>
            <a:ext cx="262501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10814" y="2322576"/>
            <a:ext cx="262501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Graffiti &amp; façade vandalism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Abandoned/suspicious objects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 &amp; smoke (3-frame verification)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Slip &amp; wet surface hazards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After-hours vehicle intrusion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Night thermal perimeter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intelligence (conversion)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Flood: YOLOv8n-seg water polygon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Landslide: frame-diff + RAFT optical flow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64428" y="1005840"/>
            <a:ext cx="2807894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4428" y="1005840"/>
            <a:ext cx="280789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255868" y="1097280"/>
            <a:ext cx="2625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255868" y="1261872"/>
            <a:ext cx="262501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 / Generative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55868" y="1481328"/>
            <a:ext cx="262501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synthesize new content — text, code, images. Assistants that summarize, translate, and answer questions, but cannot act in the world or pursue multi-step goals.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55868" y="2176272"/>
            <a:ext cx="262501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55868" y="2322576"/>
            <a:ext cx="262501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 incident description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event summarization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Multilingual report translation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Severity classification by language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Natural language video queries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Flood extent description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Crack severity classification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9109481" y="1005840"/>
            <a:ext cx="2807894" cy="265176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09481" y="1005840"/>
            <a:ext cx="2807894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9200921" y="1097280"/>
            <a:ext cx="26250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200921" y="1261872"/>
            <a:ext cx="262501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00921" y="1481328"/>
            <a:ext cx="2625014" cy="658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perceive, reason, act, and self-correct in a loop. They plan multi-step workflows, use tools, and revise course. From assistance to end-to-end execution with human governance.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00921" y="2176272"/>
            <a:ext cx="262501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9200921" y="2322576"/>
            <a:ext cx="2625014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Auto-generated incident report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LLM-judge escalation (FP filter)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memory: similar incidents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Multi-camera mesh with re-ID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Post-earthquake structural damage (YOLOv11)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Coordinated disaster response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INDECI/SINPAD escalation with report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SASPe webhook → post-quake scan mode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370332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739896"/>
            <a:ext cx="266159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· Structured input · No learning · Full audit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19374" y="370332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2526" y="3739896"/>
            <a:ext cx="266159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· Classification · Anomaly detection · Pattern recognition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164428" y="370332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7580" y="3739896"/>
            <a:ext cx="266159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 · Summarization · Translation · Shallow reasoning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109481" y="3703320"/>
            <a:ext cx="2807894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82633" y="3739896"/>
            <a:ext cx="2661590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planning · Tool use · Self-correction · Orchestration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74320" y="4160520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LOOP — WITH HUMAN FEEDBACK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75408" y="4389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621128" y="43434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21128" y="43434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849728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Perceive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621128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COCO-SSD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YOLOv8-seg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YOLOv11-crack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449928" y="4389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495648" y="43434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95648" y="43434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24248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495648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 judge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24448" y="4389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370168" y="43434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70168" y="43434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598768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70168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INDECI report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198968" y="4389120"/>
            <a:ext cx="141732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16200000">
              <a:srgbClr val="059669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244688" y="43434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44688" y="43434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473288" y="44348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244688" y="461772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verdict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tick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992728" y="4608576"/>
            <a:ext cx="45720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66" name="Shape 64"/>
          <p:cNvSpPr/>
          <p:nvPr/>
        </p:nvSpPr>
        <p:spPr>
          <a:xfrm>
            <a:off x="5867248" y="4608576"/>
            <a:ext cx="45720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67" name="Shape 65"/>
          <p:cNvSpPr/>
          <p:nvPr/>
        </p:nvSpPr>
        <p:spPr>
          <a:xfrm>
            <a:off x="7741768" y="4608576"/>
            <a:ext cx="457200" cy="109728"/>
          </a:xfrm>
          <a:prstGeom prst="rightArrow">
            <a:avLst/>
          </a:prstGeom>
          <a:solidFill>
            <a:srgbClr val="059669"/>
          </a:solidFill>
          <a:ln/>
        </p:spPr>
      </p:sp>
      <p:sp>
        <p:nvSpPr>
          <p:cNvPr id="68" name="Shape 66"/>
          <p:cNvSpPr/>
          <p:nvPr/>
        </p:nvSpPr>
        <p:spPr>
          <a:xfrm>
            <a:off x="8861908" y="4937760"/>
            <a:ext cx="91440" cy="22860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69" name="Shape 67"/>
          <p:cNvSpPr/>
          <p:nvPr/>
        </p:nvSpPr>
        <p:spPr>
          <a:xfrm>
            <a:off x="3284068" y="5120640"/>
            <a:ext cx="5623560" cy="91440"/>
          </a:xfrm>
          <a:prstGeom prst="leftArrow">
            <a:avLst/>
          </a:prstGeom>
          <a:solidFill>
            <a:srgbClr val="059669"/>
          </a:solidFill>
          <a:ln/>
        </p:spPr>
      </p:sp>
      <p:sp>
        <p:nvSpPr>
          <p:cNvPr id="70" name="Shape 68"/>
          <p:cNvSpPr/>
          <p:nvPr/>
        </p:nvSpPr>
        <p:spPr>
          <a:xfrm>
            <a:off x="3238348" y="5120640"/>
            <a:ext cx="91440" cy="228600"/>
          </a:xfrm>
          <a:prstGeom prst="upArrow">
            <a:avLst/>
          </a:prstGeom>
          <a:solidFill>
            <a:srgbClr val="059669"/>
          </a:solidFill>
          <a:ln/>
        </p:spPr>
      </p:sp>
      <p:sp>
        <p:nvSpPr>
          <p:cNvPr id="71" name="Text 69"/>
          <p:cNvSpPr/>
          <p:nvPr/>
        </p:nvSpPr>
        <p:spPr>
          <a:xfrm>
            <a:off x="5272888" y="495604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 autonomous loop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724248" y="544068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97400" y="55321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4" name="Text 72"/>
          <p:cNvSpPr/>
          <p:nvPr/>
        </p:nvSpPr>
        <p:spPr>
          <a:xfrm>
            <a:off x="4797400" y="5532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135728" y="5468112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Feedback</a:t>
            </a:r>
            <a:endParaRPr lang="en-US" sz="10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· Silence · Tune thresholds · Circuit breaker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004408" y="5257800"/>
            <a:ext cx="64008" cy="182880"/>
          </a:xfrm>
          <a:prstGeom prst="downArrow">
            <a:avLst/>
          </a:prstGeom>
          <a:solidFill>
            <a:srgbClr val="F59E0B"/>
          </a:solidFill>
          <a:ln/>
        </p:spPr>
      </p:sp>
      <p:sp>
        <p:nvSpPr>
          <p:cNvPr id="77" name="Shape 75"/>
          <p:cNvSpPr/>
          <p:nvPr/>
        </p:nvSpPr>
        <p:spPr>
          <a:xfrm>
            <a:off x="6123280" y="5257800"/>
            <a:ext cx="64008" cy="182880"/>
          </a:xfrm>
          <a:prstGeom prst="upArrow">
            <a:avLst/>
          </a:prstGeom>
          <a:solidFill>
            <a:srgbClr val="F59E0B"/>
          </a:solidFill>
          <a:ln/>
        </p:spPr>
      </p:sp>
      <p:sp>
        <p:nvSpPr>
          <p:cNvPr id="78" name="Shape 76"/>
          <p:cNvSpPr/>
          <p:nvPr/>
        </p:nvSpPr>
        <p:spPr>
          <a:xfrm>
            <a:off x="274320" y="5715000"/>
            <a:ext cx="11643055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5751576"/>
            <a:ext cx="11368735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272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civic-camera systems are Stage 2: they count people and trigger a static threshold alert. Vision Agent closes the loop — perceives the plaza, reasons about anomalies, acts via 3-tier escalation, and reflects via the LLM judge that filters false positives. The same Stage 1–5 pipeline, immutable ActionLog, circuit-breaker, and zero-backend architecture serves both commercial detection AND disaster modes (flood, landslide, post-quake).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274320" y="6217920"/>
            <a:ext cx="11643055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auto-response · auditable evidence · circuit-breaker · auto-reports · LLM judge · zero backend · INDECI/SINPAD compatible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74320" y="6492240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McKinsey · BCG · Bain · Gartner · Deloitte · WEF · Stanford HAI · MIT Sloan · Sequoia · VastData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— Strategic Brief V2</dc:title>
  <dc:subject>PptxGenJS Presentation</dc:subject>
  <dc:creator>Vision Agent</dc:creator>
  <cp:lastModifiedBy>Vision Agent</cp:lastModifiedBy>
  <cp:revision>1</cp:revision>
  <dcterms:created xsi:type="dcterms:W3CDTF">2026-07-14T13:36:27Z</dcterms:created>
  <dcterms:modified xsi:type="dcterms:W3CDTF">2026-07-14T13:36:27Z</dcterms:modified>
</cp:coreProperties>
</file>