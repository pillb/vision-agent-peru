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6537960"/>
            <a:ext cx="11475720" cy="0"/>
          </a:xfrm>
          <a:prstGeom prst="line">
            <a:avLst/>
          </a:prstGeom>
          <a:noFill/>
          <a:ln w="8890">
            <a:solidFill>
              <a:srgbClr val="D5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7453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73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BCP | Seguridad de Sedes · Cámaras e IA emergente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6400800" y="6574536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73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evolucionar de alerta a respuesta auditable con gobierno humano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1 · EVOLUCIÓN EN Z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cámaras que alertan a una red de seguridad que percibe, decide y actúa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para Seguridad de Sedes BCP: aprovechar la infraestructura de cámaras y sumar capacidades emergentes por capas, sin confundir detección con autonomía.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6492240" cy="0"/>
          </a:xfrm>
          <a:prstGeom prst="line">
            <a:avLst/>
          </a:prstGeom>
          <a:noFill/>
          <a:ln w="63500">
            <a:solidFill>
              <a:srgbClr val="AEB8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0" y="2331720"/>
            <a:ext cx="-6355080" cy="2194560"/>
          </a:xfrm>
          <a:prstGeom prst="line">
            <a:avLst/>
          </a:prstGeom>
          <a:noFill/>
          <a:ln w="63500">
            <a:solidFill>
              <a:srgbClr val="AEB8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4645152"/>
            <a:ext cx="10241280" cy="0"/>
          </a:xfrm>
          <a:prstGeom prst="line">
            <a:avLst/>
          </a:prstGeom>
          <a:noFill/>
          <a:ln w="762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02920" y="1243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REGLAS Y PUNTAJES…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9217152" y="3566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…A RESPUESTA ORQUESTADA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2606040" cy="2221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1371600"/>
            <a:ext cx="2606040" cy="68580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508760"/>
            <a:ext cx="658368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154990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</a:t>
            </a:r>
            <a:endParaRPr lang="en-US" sz="720" dirty="0"/>
          </a:p>
        </p:txBody>
      </p:sp>
      <p:sp>
        <p:nvSpPr>
          <p:cNvPr id="17" name="Text 15"/>
          <p:cNvSpPr txBox="1"/>
          <p:nvPr/>
        </p:nvSpPr>
        <p:spPr>
          <a:xfrm>
            <a:off x="1362456" y="149961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tradicional</a:t>
            </a:r>
            <a:endParaRPr lang="en-US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1828800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E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19842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reglas explícitas: horarios, cruce de línea, permanencia, zonas y umbrales definidos por personas.</a:t>
            </a:r>
            <a:endParaRPr lang="en-US" sz="835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2359152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7E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25237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Intrusión en ROI, vehículo fuera de horario, permanencia en bahía o parking y reglas simples de aforo.</a:t>
            </a:r>
            <a:endParaRPr lang="en-US" sz="73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293522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solo reconoce lo que fue programado.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3504" y="3200400"/>
            <a:ext cx="227685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3200400"/>
            <a:ext cx="64008" cy="356616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264408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control predecible y totalmente auditable.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319272" y="1371600"/>
            <a:ext cx="4160520" cy="2221992"/>
          </a:xfrm>
          <a:prstGeom prst="roundRect">
            <a:avLst/>
          </a:prstGeom>
          <a:solidFill>
            <a:srgbClr val="E9F7FC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1371600"/>
            <a:ext cx="4160520" cy="685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3864" y="1508760"/>
            <a:ext cx="658368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154990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2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4242816" y="149961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Deep Learning</a:t>
            </a:r>
            <a:endParaRPr lang="en-US" sz="1420" dirty="0"/>
          </a:p>
        </p:txBody>
      </p:sp>
      <p:sp>
        <p:nvSpPr>
          <p:cNvPr id="31" name="Text 29"/>
          <p:cNvSpPr txBox="1"/>
          <p:nvPr/>
        </p:nvSpPr>
        <p:spPr>
          <a:xfrm>
            <a:off x="3483864" y="1828800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3483864" y="198424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aprenden patrones visuales y entregan clase, ubicación, trayectoria y puntaje. Amplían la percepción, pero normalmente no deciden el proceso completo.</a:t>
            </a:r>
            <a:endParaRPr lang="en-US" sz="835" dirty="0"/>
          </a:p>
        </p:txBody>
      </p:sp>
      <p:sp>
        <p:nvSpPr>
          <p:cNvPr id="33" name="Text 31"/>
          <p:cNvSpPr txBox="1"/>
          <p:nvPr/>
        </p:nvSpPr>
        <p:spPr>
          <a:xfrm>
            <a:off x="3483864" y="2359152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3483864" y="2523744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Comercial: estacionamientos/bahías; aforo, colas y BI; graffiti; objeto abandonado; fuego/humo; intrusión vehicular; piso mojado y perímetro térmico. Desastres: agua (YOLOv8-seg), ladera (RAFT) y grietas post-sismo (YOLOv11).</a:t>
            </a:r>
            <a:endParaRPr lang="en-US" sz="730" dirty="0"/>
          </a:p>
        </p:txBody>
      </p:sp>
      <p:sp>
        <p:nvSpPr>
          <p:cNvPr id="35" name="Text 33"/>
          <p:cNvSpPr txBox="1"/>
          <p:nvPr/>
        </p:nvSpPr>
        <p:spPr>
          <a:xfrm>
            <a:off x="3483864" y="2935224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“ve y puntúa”; un flujo tradicional transmite la alerta.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483864" y="3200400"/>
            <a:ext cx="383133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83864" y="3200400"/>
            <a:ext cx="64008" cy="35661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30168" y="3264408"/>
            <a:ext cx="3630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percepción a escala y alertas más precisas.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38912" y="3703320"/>
            <a:ext cx="3611880" cy="245059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FE9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" y="3703320"/>
            <a:ext cx="3611880" cy="6858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3840480"/>
            <a:ext cx="658368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88162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3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1362456" y="38313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 / cognitiva</a:t>
            </a:r>
            <a:endParaRPr lang="en-US" sz="1420" dirty="0"/>
          </a:p>
        </p:txBody>
      </p:sp>
      <p:sp>
        <p:nvSpPr>
          <p:cNvPr id="44" name="Text 42"/>
          <p:cNvSpPr txBox="1"/>
          <p:nvPr/>
        </p:nvSpPr>
        <p:spPr>
          <a:xfrm>
            <a:off x="603504" y="4160520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720" dirty="0"/>
          </a:p>
        </p:txBody>
      </p:sp>
      <p:sp>
        <p:nvSpPr>
          <p:cNvPr id="45" name="Text 43"/>
          <p:cNvSpPr txBox="1"/>
          <p:nvPr/>
        </p:nvSpPr>
        <p:spPr>
          <a:xfrm>
            <a:off x="603504" y="43159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5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 el evento y lo convierte en lenguaje: contextualiza, resume, traduce, compara y responde consultas sobre video o historial.</a:t>
            </a:r>
            <a:endParaRPr lang="en-US" sz="835" dirty="0"/>
          </a:p>
        </p:txBody>
      </p:sp>
      <p:sp>
        <p:nvSpPr>
          <p:cNvPr id="46" name="Text 44"/>
          <p:cNvSpPr txBox="1"/>
          <p:nvPr/>
        </p:nvSpPr>
        <p:spPr>
          <a:xfrm>
            <a:off x="603504" y="46908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EN CÁMARAS Y SEDES</a:t>
            </a:r>
            <a:endParaRPr lang="en-US" sz="720" dirty="0"/>
          </a:p>
        </p:txBody>
      </p:sp>
      <p:sp>
        <p:nvSpPr>
          <p:cNvPr id="47" name="Text 45"/>
          <p:cNvSpPr txBox="1"/>
          <p:nvPr/>
        </p:nvSpPr>
        <p:spPr>
          <a:xfrm>
            <a:off x="603504" y="485546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automática, resumen por sede, consulta natural de evidencias, clasificación de severidad y borrador de reportes de inundación, huaico o daño estructural.</a:t>
            </a:r>
            <a:endParaRPr lang="en-US" sz="730" dirty="0"/>
          </a:p>
        </p:txBody>
      </p:sp>
      <p:sp>
        <p:nvSpPr>
          <p:cNvPr id="48" name="Text 46"/>
          <p:cNvSpPr txBox="1"/>
          <p:nvPr/>
        </p:nvSpPr>
        <p:spPr>
          <a:xfrm>
            <a:off x="603504" y="549554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puede recomendar, pero no necesariamente ejecutar ni verificar.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3504" y="5760720"/>
            <a:ext cx="3282696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" y="5760720"/>
            <a:ext cx="64008" cy="356616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5824728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convierte detecciones en contexto accionable.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4325112" y="3703320"/>
            <a:ext cx="7424928" cy="2450592"/>
          </a:xfrm>
          <a:prstGeom prst="roundRect">
            <a:avLst/>
          </a:prstGeom>
          <a:solidFill>
            <a:srgbClr val="F1FBF7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325112" y="3703320"/>
            <a:ext cx="7424928" cy="6858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9704" y="3840480"/>
            <a:ext cx="658368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26280" y="388162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4</a:t>
            </a:r>
            <a:endParaRPr lang="en-US" sz="720" dirty="0"/>
          </a:p>
        </p:txBody>
      </p:sp>
      <p:sp>
        <p:nvSpPr>
          <p:cNvPr id="56" name="Text 54"/>
          <p:cNvSpPr txBox="1"/>
          <p:nvPr/>
        </p:nvSpPr>
        <p:spPr>
          <a:xfrm>
            <a:off x="5248656" y="38313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</a:t>
            </a:r>
            <a:endParaRPr lang="en-US" sz="1420" dirty="0"/>
          </a:p>
        </p:txBody>
      </p:sp>
      <p:sp>
        <p:nvSpPr>
          <p:cNvPr id="57" name="Text 55"/>
          <p:cNvSpPr txBox="1"/>
          <p:nvPr/>
        </p:nvSpPr>
        <p:spPr>
          <a:xfrm>
            <a:off x="7150608" y="383133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el loop: percibe, razona, actúa y se autocorrige con feedback humano.</a:t>
            </a:r>
            <a:endParaRPr lang="en-US" sz="1020" dirty="0"/>
          </a:p>
        </p:txBody>
      </p:sp>
      <p:sp>
        <p:nvSpPr>
          <p:cNvPr id="58" name="Text 56"/>
          <p:cNvSpPr txBox="1"/>
          <p:nvPr/>
        </p:nvSpPr>
        <p:spPr>
          <a:xfrm>
            <a:off x="4507992" y="4151376"/>
            <a:ext cx="693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5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mayoría de sistemas de cámaras se queda en ML/DL: cuenta, detecta y dispara una alerta estática. Vision Agent agrega una capa externa que atiende automáticamente la alerta, usa herramientas, genera evidencia y ajusta la siguiente decisión.</a:t>
            </a:r>
            <a:endParaRPr lang="en-US" sz="815" dirty="0"/>
          </a:p>
        </p:txBody>
      </p:sp>
      <p:sp>
        <p:nvSpPr>
          <p:cNvPr id="59" name="Shape 57"/>
          <p:cNvSpPr/>
          <p:nvPr/>
        </p:nvSpPr>
        <p:spPr>
          <a:xfrm>
            <a:off x="4590288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5152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45152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30" dirty="0"/>
          </a:p>
        </p:txBody>
      </p:sp>
      <p:sp>
        <p:nvSpPr>
          <p:cNvPr id="62" name="Text 60"/>
          <p:cNvSpPr txBox="1"/>
          <p:nvPr/>
        </p:nvSpPr>
        <p:spPr>
          <a:xfrm>
            <a:off x="4700016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PERCIBIR</a:t>
            </a:r>
            <a:endParaRPr lang="en-US" sz="780" dirty="0"/>
          </a:p>
        </p:txBody>
      </p:sp>
      <p:sp>
        <p:nvSpPr>
          <p:cNvPr id="63" name="Text 61"/>
          <p:cNvSpPr txBox="1"/>
          <p:nvPr/>
        </p:nvSpPr>
        <p:spPr>
          <a:xfrm>
            <a:off x="4663440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· YOLOv8-seg · YOLOv11-crack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6332220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87084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87084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30" dirty="0"/>
          </a:p>
        </p:txBody>
      </p:sp>
      <p:sp>
        <p:nvSpPr>
          <p:cNvPr id="67" name="Text 65"/>
          <p:cNvSpPr txBox="1"/>
          <p:nvPr/>
        </p:nvSpPr>
        <p:spPr>
          <a:xfrm>
            <a:off x="6441948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RAZONAR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6405372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reglas + LLM-as-judge</a:t>
            </a: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8074152" y="4617720"/>
            <a:ext cx="1650492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29016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129016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30" dirty="0"/>
          </a:p>
        </p:txBody>
      </p:sp>
      <p:sp>
        <p:nvSpPr>
          <p:cNvPr id="72" name="Text 70"/>
          <p:cNvSpPr txBox="1"/>
          <p:nvPr/>
        </p:nvSpPr>
        <p:spPr>
          <a:xfrm>
            <a:off x="8183880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780" dirty="0"/>
          </a:p>
        </p:txBody>
      </p:sp>
      <p:sp>
        <p:nvSpPr>
          <p:cNvPr id="73" name="Text 71"/>
          <p:cNvSpPr txBox="1"/>
          <p:nvPr/>
        </p:nvSpPr>
        <p:spPr>
          <a:xfrm>
            <a:off x="8147304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registry: captura · alerta · reporte</a:t>
            </a:r>
            <a:endParaRPr lang="en-US" sz="580" dirty="0"/>
          </a:p>
        </p:txBody>
      </p:sp>
      <p:sp>
        <p:nvSpPr>
          <p:cNvPr id="74" name="Shape 72"/>
          <p:cNvSpPr/>
          <p:nvPr/>
        </p:nvSpPr>
        <p:spPr>
          <a:xfrm>
            <a:off x="9816084" y="4617720"/>
            <a:ext cx="1650492" cy="457200"/>
          </a:xfrm>
          <a:prstGeom prst="roundRect">
            <a:avLst/>
          </a:prstGeom>
          <a:solidFill>
            <a:srgbClr val="E8F7F1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70948" y="453542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870948" y="45857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30" dirty="0"/>
          </a:p>
        </p:txBody>
      </p:sp>
      <p:sp>
        <p:nvSpPr>
          <p:cNvPr id="77" name="Text 75"/>
          <p:cNvSpPr txBox="1"/>
          <p:nvPr/>
        </p:nvSpPr>
        <p:spPr>
          <a:xfrm>
            <a:off x="9925812" y="4718304"/>
            <a:ext cx="14676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REFLEXIONAR / SELF-CORRECT</a:t>
            </a:r>
            <a:endParaRPr lang="en-US" sz="780" dirty="0"/>
          </a:p>
        </p:txBody>
      </p:sp>
      <p:sp>
        <p:nvSpPr>
          <p:cNvPr id="78" name="Text 76"/>
          <p:cNvSpPr txBox="1"/>
          <p:nvPr/>
        </p:nvSpPr>
        <p:spPr>
          <a:xfrm>
            <a:off x="9889236" y="4882896"/>
            <a:ext cx="15041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Veredicto · siguiente ciclo · autocorrección</a:t>
            </a:r>
            <a:endParaRPr lang="en-US" sz="580" dirty="0"/>
          </a:p>
        </p:txBody>
      </p:sp>
      <p:sp>
        <p:nvSpPr>
          <p:cNvPr id="79" name="Shape 77"/>
          <p:cNvSpPr/>
          <p:nvPr/>
        </p:nvSpPr>
        <p:spPr>
          <a:xfrm>
            <a:off x="6240780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982712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9724644" y="484632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10641330" y="507492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15534" y="5093208"/>
            <a:ext cx="5225796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  <a:headEnd type="triangle"/>
          </a:ln>
        </p:spPr>
      </p:sp>
      <p:sp>
        <p:nvSpPr>
          <p:cNvPr id="84" name="Shape 82"/>
          <p:cNvSpPr/>
          <p:nvPr/>
        </p:nvSpPr>
        <p:spPr>
          <a:xfrm>
            <a:off x="5415534" y="507492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134515" y="4956048"/>
            <a:ext cx="20628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 ciclo autónomo con evidencia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6240597" y="5321808"/>
            <a:ext cx="3575670" cy="34747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13749" y="5385816"/>
            <a:ext cx="201168" cy="201168"/>
          </a:xfrm>
          <a:prstGeom prst="ellips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313749" y="54178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6569781" y="5413248"/>
            <a:ext cx="317333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Feedback / retroalimentación: reconocer · silenciar · ajustar umbral · circuit breaker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8028432" y="5321808"/>
            <a:ext cx="0" cy="-201168"/>
          </a:xfrm>
          <a:prstGeom prst="line">
            <a:avLst/>
          </a:prstGeom>
          <a:noFill/>
          <a:ln w="15240">
            <a:solidFill>
              <a:srgbClr val="FF7800"/>
            </a:solidFill>
            <a:prstDash val="dash"/>
            <a:headEnd type="triangle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4507992" y="5696712"/>
            <a:ext cx="6967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SOBRE LOS 12 ESCENARIOS: valida falsos positivos, prioriza, captura evidencia, notifica, despacha atención y genera reporte. En desastre: SASPe → webhook → escaneo → clasificación de daño → INDECI/SINPAD. CONTINUIDAD: misma arquitectura de cinco etapas · ActionLog inmutable · LLM-as-judge · circuit breaker · zero-backend.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8851392" y="4096512"/>
            <a:ext cx="2523744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887968" y="4137660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RESPUESTA DE EXTREMO A EXTREMO</a:t>
            </a:r>
            <a:endParaRPr lang="en-US" sz="6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2 · DEL SCORE A LA RESPUESTA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salto no está en otra cámara: está en la capa que convierte una alerta en una atención resuelta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 alto impacto para el VP: ML/DL mejora lo que la cámara ve; la IA agentic cambia lo que la organización hace después de verlo.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530352" cy="228600"/>
          </a:xfrm>
          <a:prstGeom prst="roundRect">
            <a:avLst/>
          </a:prstGeom>
          <a:solidFill>
            <a:srgbClr val="7B8799"/>
          </a:solidFill>
          <a:ln w="7620">
            <a:solidFill>
              <a:srgbClr val="7B87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3487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2710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Cámaras + modelos de visión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54533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analiza el fotograma, entrega una clase y un puntaje; un software tradicional muestra o transmite la alerta.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937760" y="1609344"/>
            <a:ext cx="3017520" cy="0"/>
          </a:xfrm>
          <a:prstGeom prst="line">
            <a:avLst/>
          </a:prstGeom>
          <a:noFill/>
          <a:ln w="63500">
            <a:solidFill>
              <a:srgbClr val="00A8E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230368" y="1325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DL: MEJOR PERCEPCIÓN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8092440" y="1243584"/>
            <a:ext cx="3639312" cy="1444752"/>
          </a:xfrm>
          <a:prstGeom prst="roundRect">
            <a:avLst/>
          </a:prstGeom>
          <a:solidFill>
            <a:srgbClr val="E9F7FC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1417320"/>
            <a:ext cx="3273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0A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QUE YA PODEMOS DETECTAR</a:t>
            </a:r>
            <a:endParaRPr lang="en-US" sz="73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664208"/>
            <a:ext cx="3273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Estacionamientos y bahías · tráfico peatonal y colas · graffiti · objeto abandonado · fuego/humo · vehículo fuera de horario · piso mojado · perímetro térmico · inteligencia de flujo. También: nivel de agua, movimiento de ladera y daño post-sismo.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8887968" y="2386584"/>
            <a:ext cx="2057400" cy="2286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3A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24544" y="24277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F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ALERTA PUNTUAL, SIN CERRAR EL CASO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rot="8100000">
            <a:off x="5961888" y="2468880"/>
            <a:ext cx="1051560" cy="1097280"/>
          </a:xfrm>
          <a:prstGeom prst="chevron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788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7B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+ herramientas + feedback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4069080" cy="2414016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685032"/>
            <a:ext cx="658368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" y="37261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3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675888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</a:t>
            </a:r>
            <a:endParaRPr lang="en-US" sz="142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050792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lo ocurrido y prepara contenido para el operador: descripción, resumen por sede, consulta natural, traducción y borrador de reportes.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45994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809744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“¿Qué pasó y por qué escaló?”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Reporte de fuego, intrusión o abandono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Resumen de agua, ladera o grietas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Comparación con incidentes similares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513832"/>
            <a:ext cx="3584448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513832"/>
            <a:ext cx="64008" cy="356616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5778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menos tiempo interpretando y redactando.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4535424" y="4654296"/>
            <a:ext cx="941832" cy="0"/>
          </a:xfrm>
          <a:prstGeom prst="line">
            <a:avLst/>
          </a:prstGeom>
          <a:noFill/>
          <a:ln w="635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61688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EL LOOP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577840" y="3246120"/>
            <a:ext cx="6153912" cy="288036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06440" y="3456432"/>
            <a:ext cx="1325880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43016" y="3497580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 OBJETIVO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34198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 PARA SEGURIDAD DE SEDES</a:t>
            </a:r>
            <a:endParaRPr lang="en-US" sz="143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3822192"/>
            <a:ext cx="5513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por fuera puede trabajar sobre cámaras inteligentes o no inteligentes: consume video y alertas, combina contexto, decide el siguiente paso, ejecuta herramientas y deja trazabilidad.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8704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253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253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30" dirty="0"/>
          </a:p>
        </p:txBody>
      </p:sp>
      <p:sp>
        <p:nvSpPr>
          <p:cNvPr id="42" name="Text 40"/>
          <p:cNvSpPr txBox="1"/>
          <p:nvPr/>
        </p:nvSpPr>
        <p:spPr>
          <a:xfrm>
            <a:off x="59801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PERCIBIR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· YOLOv8-seg · YOLOv11-crack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72420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9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969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30" dirty="0"/>
          </a:p>
        </p:txBody>
      </p:sp>
      <p:sp>
        <p:nvSpPr>
          <p:cNvPr id="47" name="Text 45"/>
          <p:cNvSpPr txBox="1"/>
          <p:nvPr/>
        </p:nvSpPr>
        <p:spPr>
          <a:xfrm>
            <a:off x="73517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RAZONAR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73152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reglas + LLM-as-judge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8613648" y="4343400"/>
            <a:ext cx="12801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685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685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87233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78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registry: captura · alerta · reporte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9985248" y="4343400"/>
            <a:ext cx="1280160" cy="457200"/>
          </a:xfrm>
          <a:prstGeom prst="roundRect">
            <a:avLst/>
          </a:prstGeom>
          <a:solidFill>
            <a:srgbClr val="E8F7F1"/>
          </a:solidFill>
          <a:ln w="15240">
            <a:solidFill>
              <a:srgbClr val="00A8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40112" y="4261104"/>
            <a:ext cx="219456" cy="21945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40112" y="43113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30" dirty="0"/>
          </a:p>
        </p:txBody>
      </p:sp>
      <p:sp>
        <p:nvSpPr>
          <p:cNvPr id="57" name="Text 55"/>
          <p:cNvSpPr txBox="1"/>
          <p:nvPr/>
        </p:nvSpPr>
        <p:spPr>
          <a:xfrm>
            <a:off x="10094976" y="44439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REFLEXIONAR / SELF-CORRECT</a:t>
            </a:r>
            <a:endParaRPr lang="en-US" sz="780" dirty="0"/>
          </a:p>
        </p:txBody>
      </p:sp>
      <p:sp>
        <p:nvSpPr>
          <p:cNvPr id="58" name="Text 56"/>
          <p:cNvSpPr txBox="1"/>
          <p:nvPr/>
        </p:nvSpPr>
        <p:spPr>
          <a:xfrm>
            <a:off x="10058400" y="4608576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Veredicto · siguiente ciclo · autocorrección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71506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5222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893808" y="4572000"/>
            <a:ext cx="91440" cy="0"/>
          </a:xfrm>
          <a:prstGeom prst="line">
            <a:avLst/>
          </a:prstGeom>
          <a:noFill/>
          <a:ln w="2159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625328" y="480060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0528" y="4818888"/>
            <a:ext cx="4114800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6510528" y="4800600"/>
            <a:ext cx="0" cy="1828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66583" y="4681728"/>
            <a:ext cx="1618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 ciclo autónomo con evidencia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7165238" y="5047488"/>
            <a:ext cx="2805379" cy="34747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38390" y="5111496"/>
            <a:ext cx="201168" cy="201168"/>
          </a:xfrm>
          <a:prstGeom prst="ellips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38390" y="514350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7494422" y="5138928"/>
            <a:ext cx="24030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Feedback / retroalimentación: reconocer · silenciar · ajustar umbral · circuit breaker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567928" y="5047488"/>
            <a:ext cx="0" cy="-201168"/>
          </a:xfrm>
          <a:prstGeom prst="line">
            <a:avLst/>
          </a:prstGeom>
          <a:noFill/>
          <a:ln w="15240">
            <a:solidFill>
              <a:srgbClr val="FF7800"/>
            </a:solidFill>
            <a:prstDash val="dash"/>
            <a:headEnd type="triangle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5806440" y="5486400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ATENCIONES: confirmar · priorizar · capturar evidencia · avisar al centro de control · despachar patrulla o mantenimiento · escalar · reportar. AI-for-Good: SASPe activa escaneo y reporte INDECI/SINPAD; agua y laderas alertan. BASE: ActionLog · LLM-as-judge · circuit breaker · zero-backend.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7699248" y="5861304"/>
            <a:ext cx="2560320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735824" y="59024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DIFERENCIAL: DE “VER” A “RESOLVER EL CASO”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475488" cy="329184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0A2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38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95528" y="329184"/>
            <a:ext cx="164592" cy="164592"/>
          </a:xfrm>
          <a:prstGeom prst="triangle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3 · PORTAFOLIO EJECUTIVO</a:t>
            </a:r>
            <a:endParaRPr lang="en-US" sz="8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hoja de ruta de capacidades para convertir las cámaras de sedes en una plataforma de prevención, operación y respuesta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0525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más densa para decisión: combina el flujo en Z con el valor incremental y un portafolio comercial + AI-for-Good sobre una arquitectura común.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2697480" y="1993392"/>
            <a:ext cx="365760" cy="0"/>
          </a:xfrm>
          <a:prstGeom prst="line">
            <a:avLst/>
          </a:prstGeom>
          <a:noFill/>
          <a:ln w="50800">
            <a:solidFill>
              <a:srgbClr val="7B87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48856" y="2148840"/>
            <a:ext cx="-6144768" cy="969264"/>
          </a:xfrm>
          <a:prstGeom prst="line">
            <a:avLst/>
          </a:prstGeom>
          <a:noFill/>
          <a:ln w="50800">
            <a:solidFill>
              <a:srgbClr val="7B87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21024" y="3675888"/>
            <a:ext cx="265176" cy="0"/>
          </a:xfrm>
          <a:prstGeom prst="line">
            <a:avLst/>
          </a:prstGeom>
          <a:noFill/>
          <a:ln w="63500">
            <a:solidFill>
              <a:srgbClr val="FF78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2331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879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53312"/>
            <a:ext cx="73152" cy="1280160"/>
          </a:xfrm>
          <a:prstGeom prst="rect">
            <a:avLst/>
          </a:prstGeom>
          <a:solidFill>
            <a:srgbClr val="7E8798"/>
          </a:solidFill>
          <a:ln w="12700">
            <a:solidFill>
              <a:srgbClr val="7E87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508760"/>
            <a:ext cx="256032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5499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1508760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TRADICIONAL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184708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horario, línea, ROI, permanencia y umbral.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" y="2322576"/>
            <a:ext cx="2002536" cy="228600"/>
          </a:xfrm>
          <a:prstGeom prst="roundRect">
            <a:avLst/>
          </a:prstGeom>
          <a:solidFill>
            <a:srgbClr val="7E8798"/>
          </a:solidFill>
          <a:ln w="7620">
            <a:solidFill>
              <a:srgbClr val="7E87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363724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auditable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3063240" y="1353312"/>
            <a:ext cx="3767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1353312"/>
            <a:ext cx="73152" cy="12801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1508760"/>
            <a:ext cx="256032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4408" y="15499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575304" y="150876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DEEP LEARNING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3227832" y="1847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Clasifica, detecta, segmenta, sigue trayectorias y puntúa anomalías en todo el portafolio.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27832" y="2322576"/>
            <a:ext cx="3438144" cy="228600"/>
          </a:xfrm>
          <a:prstGeom prst="roundRect">
            <a:avLst/>
          </a:prstGeom>
          <a:solidFill>
            <a:srgbClr val="00A8E8"/>
          </a:solidFill>
          <a:ln w="7620">
            <a:solidFill>
              <a:srgbClr val="00A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64408" y="2363724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a escala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3154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800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35808"/>
            <a:ext cx="73152" cy="1280160"/>
          </a:xfrm>
          <a:prstGeom prst="rect">
            <a:avLst/>
          </a:prstGeom>
          <a:solidFill>
            <a:srgbClr val="FF7800"/>
          </a:solidFill>
          <a:ln w="12700">
            <a:solidFill>
              <a:srgbClr val="FF7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191256"/>
            <a:ext cx="256032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2324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969264" y="31912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3529584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Interpreta, resume, traduce, consulta y redacta evidencia.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" y="4005072"/>
            <a:ext cx="2825496" cy="228600"/>
          </a:xfrm>
          <a:prstGeom prst="roundRect">
            <a:avLst/>
          </a:prstGeom>
          <a:solidFill>
            <a:srgbClr val="FF7800"/>
          </a:solidFill>
          <a:ln w="7620">
            <a:solidFill>
              <a:srgbClr val="FF78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046220"/>
            <a:ext cx="2752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accionable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3886200" y="3035808"/>
            <a:ext cx="78455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12700" dist="50800" dir="2700000">
              <a:srgbClr val="7A879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86200" y="3035808"/>
            <a:ext cx="73152" cy="12801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0792" y="3191256"/>
            <a:ext cx="256032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87368" y="32324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398264" y="3191256"/>
            <a:ext cx="7168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AGENTIC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4050792" y="3529584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los doce escenarios; en sismo: SASPe → webhook → escaneo → INDECI. ActionLog y gobierno humano.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50792" y="4005072"/>
            <a:ext cx="7516368" cy="228600"/>
          </a:xfrm>
          <a:prstGeom prst="roundRect">
            <a:avLst/>
          </a:prstGeom>
          <a:solidFill>
            <a:srgbClr val="00A878"/>
          </a:solidFill>
          <a:ln w="7620">
            <a:solidFill>
              <a:srgbClr val="00A8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87368" y="4046220"/>
            <a:ext cx="7443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end-to-end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457200" y="4590288"/>
            <a:ext cx="6400800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736592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DE VALOR PARA SEGURIDAD DE SEDES</a:t>
            </a:r>
            <a:endParaRPr lang="en-US" sz="107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5074920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PREVENIR Y DISUADIR</a:t>
            </a:r>
            <a:endParaRPr lang="en-US" sz="73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33095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Intrusión, merodeo, vehículo fuera de horario, perímetro térmico, graffiti y objeto abandonado.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532888" y="5074920"/>
            <a:ext cx="0" cy="749808"/>
          </a:xfrm>
          <a:prstGeom prst="line">
            <a:avLst/>
          </a:prstGeom>
          <a:noFill/>
          <a:ln w="12700">
            <a:solidFill>
              <a:srgbClr val="D8DFE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24328" y="50749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0A2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OPERAR MEJOR</a:t>
            </a:r>
            <a:endParaRPr lang="en-US" sz="730" dirty="0"/>
          </a:p>
        </p:txBody>
      </p:sp>
      <p:sp>
        <p:nvSpPr>
          <p:cNvPr id="49" name="Text 47"/>
          <p:cNvSpPr txBox="1"/>
          <p:nvPr/>
        </p:nvSpPr>
        <p:spPr>
          <a:xfrm>
            <a:off x="2624328" y="53309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Estacionamientos y bahías, aforo, colas, permanencia, BI/conversión, flujo peatonal y piso mojado.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526280" y="5074920"/>
            <a:ext cx="0" cy="749808"/>
          </a:xfrm>
          <a:prstGeom prst="line">
            <a:avLst/>
          </a:prstGeom>
          <a:noFill/>
          <a:ln w="12700">
            <a:solidFill>
              <a:srgbClr val="D8DFE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17720" y="50749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RECUPERAR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4617720" y="533095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Fuego/humo, inundación, huaico y daño post-sismo con evidencia, escalamiento y reporte.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7114032" y="4590288"/>
            <a:ext cx="4617720" cy="1490472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33488" y="4736592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DIFERENCIAL AGENTIC: CERRAR EL LOOP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60920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97496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PERCIBE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7406640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TF.js COCO-SSD / YOLOv8-seg / YOLOv11</a:t>
            </a:r>
            <a:endParaRPr lang="en-US" sz="470" dirty="0"/>
          </a:p>
        </p:txBody>
      </p:sp>
      <p:sp>
        <p:nvSpPr>
          <p:cNvPr id="58" name="Shape 56"/>
          <p:cNvSpPr/>
          <p:nvPr/>
        </p:nvSpPr>
        <p:spPr>
          <a:xfrm>
            <a:off x="8092440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385048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21624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8430768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+ LLM-as-judge</a:t>
            </a:r>
            <a:endParaRPr lang="en-US" sz="470" dirty="0"/>
          </a:p>
        </p:txBody>
      </p:sp>
      <p:sp>
        <p:nvSpPr>
          <p:cNvPr id="62" name="Shape 60"/>
          <p:cNvSpPr/>
          <p:nvPr/>
        </p:nvSpPr>
        <p:spPr>
          <a:xfrm>
            <a:off x="9116568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409176" y="5102352"/>
            <a:ext cx="731520" cy="7315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7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445752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9454896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registry</a:t>
            </a:r>
            <a:endParaRPr lang="en-US" sz="470" dirty="0"/>
          </a:p>
        </p:txBody>
      </p:sp>
      <p:sp>
        <p:nvSpPr>
          <p:cNvPr id="66" name="Shape 64"/>
          <p:cNvSpPr/>
          <p:nvPr/>
        </p:nvSpPr>
        <p:spPr>
          <a:xfrm>
            <a:off x="10140696" y="5468112"/>
            <a:ext cx="292608" cy="0"/>
          </a:xfrm>
          <a:prstGeom prst="line">
            <a:avLst/>
          </a:prstGeom>
          <a:noFill/>
          <a:ln w="17780">
            <a:solidFill>
              <a:srgbClr val="00A878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433304" y="5102352"/>
            <a:ext cx="731520" cy="731520"/>
          </a:xfrm>
          <a:prstGeom prst="ellipse">
            <a:avLst/>
          </a:prstGeom>
          <a:solidFill>
            <a:srgbClr val="FFF2E8"/>
          </a:solidFill>
          <a:ln w="16510">
            <a:solidFill>
              <a:srgbClr val="FF78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469880" y="52669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REFLEXIONA</a:t>
            </a:r>
            <a:endParaRPr lang="en-US" sz="650" dirty="0"/>
          </a:p>
        </p:txBody>
      </p:sp>
      <p:sp>
        <p:nvSpPr>
          <p:cNvPr id="69" name="Text 67"/>
          <p:cNvSpPr txBox="1"/>
          <p:nvPr/>
        </p:nvSpPr>
        <p:spPr>
          <a:xfrm>
            <a:off x="10479024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self-correct + Human Feedback</a:t>
            </a:r>
            <a:endParaRPr lang="en-US" sz="470" dirty="0"/>
          </a:p>
        </p:txBody>
      </p:sp>
      <p:sp>
        <p:nvSpPr>
          <p:cNvPr id="70" name="Text 68"/>
          <p:cNvSpPr txBox="1"/>
          <p:nvPr/>
        </p:nvSpPr>
        <p:spPr>
          <a:xfrm>
            <a:off x="7863840" y="5907024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7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ActionLog inmutable · circuit breaker · zero-backend · INDECI/SINPAD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70">
                <a:solidFill>
                  <a:srgbClr val="AA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V2 — Tres alternativas</dc:title>
  <dc:subject>Evolución de inteligencia de cámaras para Seguridad de Sedes BCP</dc:subject>
  <dc:creator>OpenAI</dc:creator>
  <cp:lastModifiedBy>OpenAI</cp:lastModifiedBy>
  <cp:revision>1</cp:revision>
  <dcterms:created xsi:type="dcterms:W3CDTF">2026-07-14T14:21:11Z</dcterms:created>
  <dcterms:modified xsi:type="dcterms:W3CDTF">2026-07-14T14:21:11Z</dcterms:modified>
</cp:coreProperties>
</file>