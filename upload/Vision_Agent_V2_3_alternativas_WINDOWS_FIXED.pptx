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A_MASTER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7800"/>
          </a:solidFill>
          <a:ln w="12700">
            <a:solidFill>
              <a:srgbClr val="FF78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47472" y="6537960"/>
            <a:ext cx="11475720" cy="0"/>
          </a:xfrm>
          <a:prstGeom prst="line">
            <a:avLst/>
          </a:prstGeom>
          <a:noFill/>
          <a:ln w="8890">
            <a:solidFill>
              <a:srgbClr val="D5DCE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6574536"/>
            <a:ext cx="5760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70" dirty="0">
                <a:solidFill>
                  <a:srgbClr val="73809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BCP | Seguridad de Sedes · Cámaras e IA emergente</a:t>
            </a:r>
            <a:endParaRPr lang="en-US" sz="670" dirty="0"/>
          </a:p>
        </p:txBody>
      </p:sp>
      <p:sp>
        <p:nvSpPr>
          <p:cNvPr id="5" name="Text 3"/>
          <p:cNvSpPr/>
          <p:nvPr/>
        </p:nvSpPr>
        <p:spPr>
          <a:xfrm>
            <a:off x="6400800" y="6574536"/>
            <a:ext cx="5349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70" dirty="0">
                <a:solidFill>
                  <a:srgbClr val="73809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Objetivo: evolucionar de alerta a respuesta auditable con gobierno humano</a:t>
            </a:r>
            <a:endParaRPr lang="en-US" sz="67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70">
                <a:solidFill>
                  <a:srgbClr val="AAB3C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70">
                <a:solidFill>
                  <a:srgbClr val="AAB3C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256032"/>
            <a:ext cx="475488" cy="329184"/>
          </a:xfrm>
          <a:prstGeom prst="roundRect">
            <a:avLst/>
          </a:prstGeom>
          <a:solidFill>
            <a:srgbClr val="0A2A66"/>
          </a:solidFill>
          <a:ln w="12700">
            <a:solidFill>
              <a:srgbClr val="0A2A6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30352" y="338328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5400000">
            <a:off x="795528" y="329184"/>
            <a:ext cx="164592" cy="164592"/>
          </a:xfrm>
          <a:prstGeom prst="triangle">
            <a:avLst/>
          </a:prstGeom>
          <a:solidFill>
            <a:srgbClr val="FF7800"/>
          </a:solidFill>
          <a:ln w="12700">
            <a:solidFill>
              <a:srgbClr val="FF780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24128" y="219456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20" b="1" dirty="0">
                <a:solidFill>
                  <a:srgbClr val="FF78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ALTERNATIVA 1 · EVOLUCIÓN EN Z</a:t>
            </a:r>
            <a:endParaRPr lang="en-US" sz="82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438912"/>
            <a:ext cx="10698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0A2A6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 cámaras que alertan a una red de seguridad que percibe, decide y actúa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1024128" y="905256"/>
            <a:ext cx="10469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10" dirty="0">
                <a:solidFill>
                  <a:srgbClr val="4A55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Visión para Seguridad de Sedes BCP: aprovechar la infraestructura de cámaras y sumar capacidades emergentes por capas, sin confundir detección con autonomía.</a:t>
            </a:r>
            <a:endParaRPr lang="en-US" sz="1010" dirty="0"/>
          </a:p>
        </p:txBody>
      </p:sp>
      <p:sp>
        <p:nvSpPr>
          <p:cNvPr id="8" name="Shape 6"/>
          <p:cNvSpPr/>
          <p:nvPr/>
        </p:nvSpPr>
        <p:spPr>
          <a:xfrm>
            <a:off x="822960" y="2221992"/>
            <a:ext cx="6492240" cy="0"/>
          </a:xfrm>
          <a:prstGeom prst="line">
            <a:avLst/>
          </a:prstGeom>
          <a:noFill/>
          <a:ln w="63500">
            <a:solidFill>
              <a:srgbClr val="AEB8C8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7315200" y="2331720"/>
            <a:ext cx="-6355080" cy="2194560"/>
          </a:xfrm>
          <a:prstGeom prst="line">
            <a:avLst/>
          </a:prstGeom>
          <a:noFill/>
          <a:ln w="63500">
            <a:solidFill>
              <a:srgbClr val="AEB8C8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1005840" y="4645152"/>
            <a:ext cx="10241280" cy="0"/>
          </a:xfrm>
          <a:prstGeom prst="line">
            <a:avLst/>
          </a:prstGeom>
          <a:noFill/>
          <a:ln w="76200">
            <a:solidFill>
              <a:srgbClr val="FF7800"/>
            </a:solidFill>
            <a:prstDash val="solid"/>
            <a:tailEnd type="triangle"/>
          </a:ln>
        </p:spPr>
      </p:sp>
      <p:sp>
        <p:nvSpPr>
          <p:cNvPr id="11" name="Text 9"/>
          <p:cNvSpPr txBox="1"/>
          <p:nvPr/>
        </p:nvSpPr>
        <p:spPr>
          <a:xfrm>
            <a:off x="502920" y="1243584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20" b="1" dirty="0">
                <a:solidFill>
                  <a:srgbClr val="7B87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 REGLAS Y PUNTAJES…</a:t>
            </a:r>
            <a:endParaRPr lang="en-US" sz="720" dirty="0"/>
          </a:p>
        </p:txBody>
      </p:sp>
      <p:sp>
        <p:nvSpPr>
          <p:cNvPr id="12" name="Text 10"/>
          <p:cNvSpPr txBox="1"/>
          <p:nvPr/>
        </p:nvSpPr>
        <p:spPr>
          <a:xfrm>
            <a:off x="9217152" y="3566160"/>
            <a:ext cx="2423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720" b="1" dirty="0">
                <a:solidFill>
                  <a:srgbClr val="FF78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…A RESPUESTA ORQUESTADA</a:t>
            </a:r>
            <a:endParaRPr lang="en-US" sz="720" dirty="0"/>
          </a:p>
        </p:txBody>
      </p:sp>
      <p:sp>
        <p:nvSpPr>
          <p:cNvPr id="13" name="Shape 11"/>
          <p:cNvSpPr/>
          <p:nvPr/>
        </p:nvSpPr>
        <p:spPr>
          <a:xfrm>
            <a:off x="438912" y="1371600"/>
            <a:ext cx="2606040" cy="2221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FE9"/>
            </a:solidFill>
            <a:prstDash val="solid"/>
          </a:ln>
          <a:effectLst>
            <a:outerShdw sx="100000" sy="100000" kx="0" ky="0" algn="bl" rotWithShape="0" blurRad="12700" dist="50800" dir="2700000">
              <a:srgbClr val="7A8799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38912" y="1371600"/>
            <a:ext cx="2606040" cy="68580"/>
          </a:xfrm>
          <a:prstGeom prst="rect">
            <a:avLst/>
          </a:prstGeom>
          <a:solidFill>
            <a:srgbClr val="7E8798"/>
          </a:solidFill>
          <a:ln w="12700">
            <a:solidFill>
              <a:srgbClr val="7E879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03504" y="1508760"/>
            <a:ext cx="658368" cy="228600"/>
          </a:xfrm>
          <a:prstGeom prst="roundRect">
            <a:avLst/>
          </a:prstGeom>
          <a:solidFill>
            <a:srgbClr val="7E8798"/>
          </a:solidFill>
          <a:ln w="7620">
            <a:solidFill>
              <a:srgbClr val="7E879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0080" y="1549908"/>
            <a:ext cx="58521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ETAPA 1</a:t>
            </a:r>
            <a:endParaRPr lang="en-US" sz="720" dirty="0"/>
          </a:p>
        </p:txBody>
      </p:sp>
      <p:sp>
        <p:nvSpPr>
          <p:cNvPr id="17" name="Text 15"/>
          <p:cNvSpPr txBox="1"/>
          <p:nvPr/>
        </p:nvSpPr>
        <p:spPr>
          <a:xfrm>
            <a:off x="1362456" y="1499616"/>
            <a:ext cx="15179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20" b="1" dirty="0">
                <a:solidFill>
                  <a:srgbClr val="0A2A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Lógica tradicional</a:t>
            </a:r>
            <a:endParaRPr lang="en-US" sz="1420" dirty="0"/>
          </a:p>
        </p:txBody>
      </p:sp>
      <p:sp>
        <p:nvSpPr>
          <p:cNvPr id="18" name="Text 16"/>
          <p:cNvSpPr txBox="1"/>
          <p:nvPr/>
        </p:nvSpPr>
        <p:spPr>
          <a:xfrm>
            <a:off x="603504" y="1828800"/>
            <a:ext cx="22768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20" b="1" dirty="0">
                <a:solidFill>
                  <a:srgbClr val="7E87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CAPACIDAD</a:t>
            </a:r>
            <a:endParaRPr lang="en-US" sz="720" dirty="0"/>
          </a:p>
        </p:txBody>
      </p:sp>
      <p:sp>
        <p:nvSpPr>
          <p:cNvPr id="19" name="Text 17"/>
          <p:cNvSpPr txBox="1"/>
          <p:nvPr/>
        </p:nvSpPr>
        <p:spPr>
          <a:xfrm>
            <a:off x="603504" y="1984248"/>
            <a:ext cx="2276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35" dirty="0">
                <a:solidFill>
                  <a:srgbClr val="1822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Ejecuta reglas explícitas: horarios, cruce de línea, permanencia, zonas y umbrales definidos por personas.</a:t>
            </a:r>
            <a:endParaRPr lang="en-US" sz="835" dirty="0"/>
          </a:p>
        </p:txBody>
      </p:sp>
      <p:sp>
        <p:nvSpPr>
          <p:cNvPr id="20" name="Text 18"/>
          <p:cNvSpPr txBox="1"/>
          <p:nvPr/>
        </p:nvSpPr>
        <p:spPr>
          <a:xfrm>
            <a:off x="603504" y="2359152"/>
            <a:ext cx="22768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20" b="1" dirty="0">
                <a:solidFill>
                  <a:srgbClr val="7E87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APLICACIONES EN CÁMARAS Y SEDES</a:t>
            </a:r>
            <a:endParaRPr lang="en-US" sz="720" dirty="0"/>
          </a:p>
        </p:txBody>
      </p:sp>
      <p:sp>
        <p:nvSpPr>
          <p:cNvPr id="21" name="Text 19"/>
          <p:cNvSpPr txBox="1"/>
          <p:nvPr/>
        </p:nvSpPr>
        <p:spPr>
          <a:xfrm>
            <a:off x="603504" y="2523744"/>
            <a:ext cx="2276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30" dirty="0">
                <a:solidFill>
                  <a:srgbClr val="4A55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Intrusión en ROI, vehículo fuera de horario, permanencia en bahía o parking y reglas simples de aforo.</a:t>
            </a:r>
            <a:endParaRPr lang="en-US" sz="730" dirty="0"/>
          </a:p>
        </p:txBody>
      </p:sp>
      <p:sp>
        <p:nvSpPr>
          <p:cNvPr id="22" name="Text 20"/>
          <p:cNvSpPr txBox="1"/>
          <p:nvPr/>
        </p:nvSpPr>
        <p:spPr>
          <a:xfrm>
            <a:off x="603504" y="2935224"/>
            <a:ext cx="22768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i="1" dirty="0">
                <a:solidFill>
                  <a:srgbClr val="7B87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Límite: solo reconoce lo que fue programado.</a:t>
            </a:r>
            <a:endParaRPr lang="en-US" sz="700" dirty="0"/>
          </a:p>
        </p:txBody>
      </p:sp>
      <p:sp>
        <p:nvSpPr>
          <p:cNvPr id="23" name="Shape 21"/>
          <p:cNvSpPr/>
          <p:nvPr/>
        </p:nvSpPr>
        <p:spPr>
          <a:xfrm>
            <a:off x="603504" y="3200400"/>
            <a:ext cx="2276856" cy="35661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E879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03504" y="3200400"/>
            <a:ext cx="64008" cy="356616"/>
          </a:xfrm>
          <a:prstGeom prst="rect">
            <a:avLst/>
          </a:prstGeom>
          <a:solidFill>
            <a:srgbClr val="7E8798"/>
          </a:solidFill>
          <a:ln w="12700">
            <a:solidFill>
              <a:srgbClr val="7E8798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49808" y="3264408"/>
            <a:ext cx="207568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70" b="1" dirty="0">
                <a:solidFill>
                  <a:srgbClr val="1822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VALOR: control predecible y totalmente auditable.</a:t>
            </a:r>
            <a:endParaRPr lang="en-US" sz="770" dirty="0"/>
          </a:p>
        </p:txBody>
      </p:sp>
      <p:sp>
        <p:nvSpPr>
          <p:cNvPr id="26" name="Shape 24"/>
          <p:cNvSpPr/>
          <p:nvPr/>
        </p:nvSpPr>
        <p:spPr>
          <a:xfrm>
            <a:off x="3319272" y="1371600"/>
            <a:ext cx="4160520" cy="2221992"/>
          </a:xfrm>
          <a:prstGeom prst="roundRect">
            <a:avLst/>
          </a:prstGeom>
          <a:solidFill>
            <a:srgbClr val="E9F7FC"/>
          </a:solidFill>
          <a:ln w="12700">
            <a:solidFill>
              <a:srgbClr val="D8DFE9"/>
            </a:solidFill>
            <a:prstDash val="solid"/>
          </a:ln>
          <a:effectLst>
            <a:outerShdw sx="100000" sy="100000" kx="0" ky="0" algn="bl" rotWithShape="0" blurRad="12700" dist="50800" dir="2700000">
              <a:srgbClr val="7A8799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319272" y="1371600"/>
            <a:ext cx="4160520" cy="68580"/>
          </a:xfrm>
          <a:prstGeom prst="rect">
            <a:avLst/>
          </a:prstGeom>
          <a:solidFill>
            <a:srgbClr val="00A8E8"/>
          </a:solidFill>
          <a:ln w="12700">
            <a:solidFill>
              <a:srgbClr val="00A8E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483864" y="1508760"/>
            <a:ext cx="658368" cy="228600"/>
          </a:xfrm>
          <a:prstGeom prst="roundRect">
            <a:avLst/>
          </a:prstGeom>
          <a:solidFill>
            <a:srgbClr val="00A8E8"/>
          </a:solidFill>
          <a:ln w="7620">
            <a:solidFill>
              <a:srgbClr val="00A8E8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3520440" y="1549908"/>
            <a:ext cx="58521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ETAPA 2</a:t>
            </a:r>
            <a:endParaRPr lang="en-US" sz="720" dirty="0"/>
          </a:p>
        </p:txBody>
      </p:sp>
      <p:sp>
        <p:nvSpPr>
          <p:cNvPr id="30" name="Text 28"/>
          <p:cNvSpPr txBox="1"/>
          <p:nvPr/>
        </p:nvSpPr>
        <p:spPr>
          <a:xfrm>
            <a:off x="4242816" y="1499616"/>
            <a:ext cx="30723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20" b="1" dirty="0">
                <a:solidFill>
                  <a:srgbClr val="0A2A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ML / Deep Learning</a:t>
            </a:r>
            <a:endParaRPr lang="en-US" sz="1420" dirty="0"/>
          </a:p>
        </p:txBody>
      </p:sp>
      <p:sp>
        <p:nvSpPr>
          <p:cNvPr id="31" name="Text 29"/>
          <p:cNvSpPr txBox="1"/>
          <p:nvPr/>
        </p:nvSpPr>
        <p:spPr>
          <a:xfrm>
            <a:off x="3483864" y="1828800"/>
            <a:ext cx="38313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20" b="1" dirty="0">
                <a:solidFill>
                  <a:srgbClr val="00A8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CAPACIDAD</a:t>
            </a:r>
            <a:endParaRPr lang="en-US" sz="720" dirty="0"/>
          </a:p>
        </p:txBody>
      </p:sp>
      <p:sp>
        <p:nvSpPr>
          <p:cNvPr id="32" name="Text 30"/>
          <p:cNvSpPr txBox="1"/>
          <p:nvPr/>
        </p:nvSpPr>
        <p:spPr>
          <a:xfrm>
            <a:off x="3483864" y="1984248"/>
            <a:ext cx="3831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35" dirty="0">
                <a:solidFill>
                  <a:srgbClr val="1822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Los modelos aprenden patrones visuales y entregan clase, ubicación, trayectoria y puntaje. Amplían la percepción, pero normalmente no deciden el proceso completo.</a:t>
            </a:r>
            <a:endParaRPr lang="en-US" sz="835" dirty="0"/>
          </a:p>
        </p:txBody>
      </p:sp>
      <p:sp>
        <p:nvSpPr>
          <p:cNvPr id="33" name="Text 31"/>
          <p:cNvSpPr txBox="1"/>
          <p:nvPr/>
        </p:nvSpPr>
        <p:spPr>
          <a:xfrm>
            <a:off x="3483864" y="2359152"/>
            <a:ext cx="38313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20" b="1" dirty="0">
                <a:solidFill>
                  <a:srgbClr val="00A8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APLICACIONES EN CÁMARAS Y SEDES</a:t>
            </a:r>
            <a:endParaRPr lang="en-US" sz="720" dirty="0"/>
          </a:p>
        </p:txBody>
      </p:sp>
      <p:sp>
        <p:nvSpPr>
          <p:cNvPr id="34" name="Text 32"/>
          <p:cNvSpPr txBox="1"/>
          <p:nvPr/>
        </p:nvSpPr>
        <p:spPr>
          <a:xfrm>
            <a:off x="3483864" y="2523744"/>
            <a:ext cx="3831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30" dirty="0">
                <a:solidFill>
                  <a:srgbClr val="4A55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Comercial: estacionamientos/bahías; aforo, colas y BI; graffiti; objeto abandonado; fuego/humo; intrusión vehicular; piso mojado y perímetro térmico. Desastres: agua (YOLOv8-seg), ladera (RAFT) y grietas post-sismo (YOLOv11).</a:t>
            </a:r>
            <a:endParaRPr lang="en-US" sz="730" dirty="0"/>
          </a:p>
        </p:txBody>
      </p:sp>
      <p:sp>
        <p:nvSpPr>
          <p:cNvPr id="35" name="Text 33"/>
          <p:cNvSpPr txBox="1"/>
          <p:nvPr/>
        </p:nvSpPr>
        <p:spPr>
          <a:xfrm>
            <a:off x="3483864" y="2935224"/>
            <a:ext cx="38313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i="1" dirty="0">
                <a:solidFill>
                  <a:srgbClr val="7B87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Límite: “ve y puntúa”; un flujo tradicional transmite la alerta.</a:t>
            </a:r>
            <a:endParaRPr lang="en-US" sz="700" dirty="0"/>
          </a:p>
        </p:txBody>
      </p:sp>
      <p:sp>
        <p:nvSpPr>
          <p:cNvPr id="36" name="Shape 34"/>
          <p:cNvSpPr/>
          <p:nvPr/>
        </p:nvSpPr>
        <p:spPr>
          <a:xfrm>
            <a:off x="3483864" y="3200400"/>
            <a:ext cx="3831336" cy="35661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A8E8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483864" y="3200400"/>
            <a:ext cx="64008" cy="356616"/>
          </a:xfrm>
          <a:prstGeom prst="rect">
            <a:avLst/>
          </a:prstGeom>
          <a:solidFill>
            <a:srgbClr val="00A8E8"/>
          </a:solidFill>
          <a:ln w="12700">
            <a:solidFill>
              <a:srgbClr val="00A8E8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3630168" y="3264408"/>
            <a:ext cx="36301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70" b="1" dirty="0">
                <a:solidFill>
                  <a:srgbClr val="1822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VALOR: percepción a escala y alertas más precisas.</a:t>
            </a:r>
            <a:endParaRPr lang="en-US" sz="770" dirty="0"/>
          </a:p>
        </p:txBody>
      </p:sp>
      <p:sp>
        <p:nvSpPr>
          <p:cNvPr id="39" name="Shape 37"/>
          <p:cNvSpPr/>
          <p:nvPr/>
        </p:nvSpPr>
        <p:spPr>
          <a:xfrm>
            <a:off x="438912" y="3703320"/>
            <a:ext cx="3611880" cy="2450592"/>
          </a:xfrm>
          <a:prstGeom prst="roundRect">
            <a:avLst/>
          </a:prstGeom>
          <a:solidFill>
            <a:srgbClr val="FFF2E8"/>
          </a:solidFill>
          <a:ln w="12700">
            <a:solidFill>
              <a:srgbClr val="D8DFE9"/>
            </a:solidFill>
            <a:prstDash val="solid"/>
          </a:ln>
          <a:effectLst>
            <a:outerShdw sx="100000" sy="100000" kx="0" ky="0" algn="bl" rotWithShape="0" blurRad="12700" dist="50800" dir="2700000">
              <a:srgbClr val="7A8799">
                <a:alpha val="12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438912" y="3703320"/>
            <a:ext cx="3611880" cy="68580"/>
          </a:xfrm>
          <a:prstGeom prst="rect">
            <a:avLst/>
          </a:prstGeom>
          <a:solidFill>
            <a:srgbClr val="FF7800"/>
          </a:solidFill>
          <a:ln w="12700">
            <a:solidFill>
              <a:srgbClr val="FF780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03504" y="3840480"/>
            <a:ext cx="658368" cy="228600"/>
          </a:xfrm>
          <a:prstGeom prst="roundRect">
            <a:avLst/>
          </a:prstGeom>
          <a:solidFill>
            <a:srgbClr val="FF7800"/>
          </a:solidFill>
          <a:ln w="7620">
            <a:solidFill>
              <a:srgbClr val="FF7800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640080" y="3881628"/>
            <a:ext cx="58521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ETAPA 3</a:t>
            </a:r>
            <a:endParaRPr lang="en-US" sz="720" dirty="0"/>
          </a:p>
        </p:txBody>
      </p:sp>
      <p:sp>
        <p:nvSpPr>
          <p:cNvPr id="43" name="Text 41"/>
          <p:cNvSpPr txBox="1"/>
          <p:nvPr/>
        </p:nvSpPr>
        <p:spPr>
          <a:xfrm>
            <a:off x="1362456" y="3831336"/>
            <a:ext cx="25237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20" b="1" dirty="0">
                <a:solidFill>
                  <a:srgbClr val="0A2A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IA generativa / cognitiva</a:t>
            </a:r>
            <a:endParaRPr lang="en-US" sz="1420" dirty="0"/>
          </a:p>
        </p:txBody>
      </p:sp>
      <p:sp>
        <p:nvSpPr>
          <p:cNvPr id="44" name="Text 42"/>
          <p:cNvSpPr txBox="1"/>
          <p:nvPr/>
        </p:nvSpPr>
        <p:spPr>
          <a:xfrm>
            <a:off x="603504" y="4160520"/>
            <a:ext cx="3282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20" b="1" dirty="0">
                <a:solidFill>
                  <a:srgbClr val="FF78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CAPACIDAD</a:t>
            </a:r>
            <a:endParaRPr lang="en-US" sz="720" dirty="0"/>
          </a:p>
        </p:txBody>
      </p:sp>
      <p:sp>
        <p:nvSpPr>
          <p:cNvPr id="45" name="Text 43"/>
          <p:cNvSpPr txBox="1"/>
          <p:nvPr/>
        </p:nvSpPr>
        <p:spPr>
          <a:xfrm>
            <a:off x="603504" y="4315968"/>
            <a:ext cx="32826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35" dirty="0">
                <a:solidFill>
                  <a:srgbClr val="1822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Interpreta el evento y lo convierte en lenguaje: contextualiza, resume, traduce, compara y responde consultas sobre video o historial.</a:t>
            </a:r>
            <a:endParaRPr lang="en-US" sz="835" dirty="0"/>
          </a:p>
        </p:txBody>
      </p:sp>
      <p:sp>
        <p:nvSpPr>
          <p:cNvPr id="46" name="Text 44"/>
          <p:cNvSpPr txBox="1"/>
          <p:nvPr/>
        </p:nvSpPr>
        <p:spPr>
          <a:xfrm>
            <a:off x="603504" y="4690872"/>
            <a:ext cx="3282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20" b="1" dirty="0">
                <a:solidFill>
                  <a:srgbClr val="FF78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APLICACIONES EN CÁMARAS Y SEDES</a:t>
            </a:r>
            <a:endParaRPr lang="en-US" sz="720" dirty="0"/>
          </a:p>
        </p:txBody>
      </p:sp>
      <p:sp>
        <p:nvSpPr>
          <p:cNvPr id="47" name="Text 45"/>
          <p:cNvSpPr txBox="1"/>
          <p:nvPr/>
        </p:nvSpPr>
        <p:spPr>
          <a:xfrm>
            <a:off x="603504" y="4855464"/>
            <a:ext cx="32826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30" dirty="0">
                <a:solidFill>
                  <a:srgbClr val="4A55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Descripción automática, resumen por sede, consulta natural de evidencias, clasificación de severidad y borrador de reportes de inundación, huaico o daño estructural.</a:t>
            </a:r>
            <a:endParaRPr lang="en-US" sz="730" dirty="0"/>
          </a:p>
        </p:txBody>
      </p:sp>
      <p:sp>
        <p:nvSpPr>
          <p:cNvPr id="48" name="Text 46"/>
          <p:cNvSpPr txBox="1"/>
          <p:nvPr/>
        </p:nvSpPr>
        <p:spPr>
          <a:xfrm>
            <a:off x="603504" y="5495544"/>
            <a:ext cx="32826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i="1" dirty="0">
                <a:solidFill>
                  <a:srgbClr val="7B87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Límite: puede recomendar, pero no necesariamente ejecutar ni verificar.</a:t>
            </a:r>
            <a:endParaRPr lang="en-US" sz="700" dirty="0"/>
          </a:p>
        </p:txBody>
      </p:sp>
      <p:sp>
        <p:nvSpPr>
          <p:cNvPr id="49" name="Shape 47"/>
          <p:cNvSpPr/>
          <p:nvPr/>
        </p:nvSpPr>
        <p:spPr>
          <a:xfrm>
            <a:off x="603504" y="5760720"/>
            <a:ext cx="3282696" cy="35661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7800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603504" y="5760720"/>
            <a:ext cx="64008" cy="356616"/>
          </a:xfrm>
          <a:prstGeom prst="rect">
            <a:avLst/>
          </a:prstGeom>
          <a:solidFill>
            <a:srgbClr val="FF7800"/>
          </a:solidFill>
          <a:ln w="12700">
            <a:solidFill>
              <a:srgbClr val="FF7800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749808" y="5824728"/>
            <a:ext cx="308152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70" b="1" dirty="0">
                <a:solidFill>
                  <a:srgbClr val="1822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VALOR: convierte detecciones en contexto accionable.</a:t>
            </a:r>
            <a:endParaRPr lang="en-US" sz="770" dirty="0"/>
          </a:p>
        </p:txBody>
      </p:sp>
      <p:sp>
        <p:nvSpPr>
          <p:cNvPr id="52" name="Shape 50"/>
          <p:cNvSpPr/>
          <p:nvPr/>
        </p:nvSpPr>
        <p:spPr>
          <a:xfrm>
            <a:off x="4325112" y="3703320"/>
            <a:ext cx="7424928" cy="2450592"/>
          </a:xfrm>
          <a:prstGeom prst="roundRect">
            <a:avLst/>
          </a:prstGeom>
          <a:solidFill>
            <a:srgbClr val="F1FBF7"/>
          </a:solidFill>
          <a:ln w="12700">
            <a:solidFill>
              <a:srgbClr val="00A878"/>
            </a:solidFill>
            <a:prstDash val="solid"/>
          </a:ln>
          <a:effectLst>
            <a:outerShdw sx="100000" sy="100000" kx="0" ky="0" algn="bl" rotWithShape="0" blurRad="12700" dist="50800" dir="2700000">
              <a:srgbClr val="7A8799">
                <a:alpha val="12000"/>
              </a:srgbClr>
            </a:outerShdw>
          </a:effectLst>
        </p:spPr>
      </p:sp>
      <p:sp>
        <p:nvSpPr>
          <p:cNvPr id="53" name="Shape 51"/>
          <p:cNvSpPr/>
          <p:nvPr/>
        </p:nvSpPr>
        <p:spPr>
          <a:xfrm>
            <a:off x="4325112" y="3703320"/>
            <a:ext cx="7424928" cy="68580"/>
          </a:xfrm>
          <a:prstGeom prst="rect">
            <a:avLst/>
          </a:prstGeom>
          <a:solidFill>
            <a:srgbClr val="00A878"/>
          </a:solidFill>
          <a:ln w="12700">
            <a:solidFill>
              <a:srgbClr val="00A878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4489704" y="3840480"/>
            <a:ext cx="658368" cy="228600"/>
          </a:xfrm>
          <a:prstGeom prst="roundRect">
            <a:avLst/>
          </a:prstGeom>
          <a:solidFill>
            <a:srgbClr val="00A878"/>
          </a:solidFill>
          <a:ln w="7620">
            <a:solidFill>
              <a:srgbClr val="00A878"/>
            </a:solidFill>
            <a:prstDash val="solid"/>
          </a:ln>
        </p:spPr>
      </p:sp>
      <p:sp>
        <p:nvSpPr>
          <p:cNvPr id="55" name="Text 53"/>
          <p:cNvSpPr txBox="1"/>
          <p:nvPr/>
        </p:nvSpPr>
        <p:spPr>
          <a:xfrm>
            <a:off x="4526280" y="3881628"/>
            <a:ext cx="58521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ETAPA 4</a:t>
            </a:r>
            <a:endParaRPr lang="en-US" sz="720" dirty="0"/>
          </a:p>
        </p:txBody>
      </p:sp>
      <p:sp>
        <p:nvSpPr>
          <p:cNvPr id="56" name="Text 54"/>
          <p:cNvSpPr txBox="1"/>
          <p:nvPr/>
        </p:nvSpPr>
        <p:spPr>
          <a:xfrm>
            <a:off x="5248656" y="3831336"/>
            <a:ext cx="19842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20" b="1" dirty="0">
                <a:solidFill>
                  <a:srgbClr val="0A2A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IA agentic</a:t>
            </a:r>
            <a:endParaRPr lang="en-US" sz="1420" dirty="0"/>
          </a:p>
        </p:txBody>
      </p:sp>
      <p:sp>
        <p:nvSpPr>
          <p:cNvPr id="57" name="Text 55"/>
          <p:cNvSpPr txBox="1"/>
          <p:nvPr/>
        </p:nvSpPr>
        <p:spPr>
          <a:xfrm>
            <a:off x="7150608" y="3831336"/>
            <a:ext cx="42245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020" b="1" dirty="0">
                <a:solidFill>
                  <a:srgbClr val="0A2A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Cierra el loop: percibe, razona, actúa y se autocorrige con feedback humano.</a:t>
            </a:r>
            <a:endParaRPr lang="en-US" sz="1020" dirty="0"/>
          </a:p>
        </p:txBody>
      </p:sp>
      <p:sp>
        <p:nvSpPr>
          <p:cNvPr id="58" name="Text 56"/>
          <p:cNvSpPr txBox="1"/>
          <p:nvPr/>
        </p:nvSpPr>
        <p:spPr>
          <a:xfrm>
            <a:off x="4507992" y="4151376"/>
            <a:ext cx="69311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15" dirty="0">
                <a:solidFill>
                  <a:srgbClr val="4A55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mayoría de sistemas de cámaras se queda en ML/DL: cuenta, detecta y dispara una alerta estática. Vision Agent agrega una capa externa que atiende automáticamente la alerta, usa herramientas, genera evidencia y ajusta la siguiente decisión.</a:t>
            </a:r>
            <a:endParaRPr lang="en-US" sz="815" dirty="0"/>
          </a:p>
        </p:txBody>
      </p:sp>
      <p:sp>
        <p:nvSpPr>
          <p:cNvPr id="59" name="Shape 57"/>
          <p:cNvSpPr/>
          <p:nvPr/>
        </p:nvSpPr>
        <p:spPr>
          <a:xfrm>
            <a:off x="4590288" y="4617720"/>
            <a:ext cx="1650492" cy="4572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A878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645152" y="4535424"/>
            <a:ext cx="219456" cy="219456"/>
          </a:xfrm>
          <a:prstGeom prst="ellipse">
            <a:avLst/>
          </a:prstGeom>
          <a:solidFill>
            <a:srgbClr val="00A878"/>
          </a:solidFill>
          <a:ln w="12700">
            <a:solidFill>
              <a:srgbClr val="00A878"/>
            </a:solidFill>
            <a:prstDash val="solid"/>
          </a:ln>
        </p:spPr>
      </p:sp>
      <p:sp>
        <p:nvSpPr>
          <p:cNvPr id="61" name="Text 59"/>
          <p:cNvSpPr txBox="1"/>
          <p:nvPr/>
        </p:nvSpPr>
        <p:spPr>
          <a:xfrm>
            <a:off x="4645152" y="4585716"/>
            <a:ext cx="21945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3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730" dirty="0"/>
          </a:p>
        </p:txBody>
      </p:sp>
      <p:sp>
        <p:nvSpPr>
          <p:cNvPr id="62" name="Text 60"/>
          <p:cNvSpPr txBox="1"/>
          <p:nvPr/>
        </p:nvSpPr>
        <p:spPr>
          <a:xfrm>
            <a:off x="4700016" y="4718304"/>
            <a:ext cx="14676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80" b="1" dirty="0">
                <a:solidFill>
                  <a:srgbClr val="00A8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PERCIBIR</a:t>
            </a:r>
            <a:endParaRPr lang="en-US" sz="780" dirty="0"/>
          </a:p>
        </p:txBody>
      </p:sp>
      <p:sp>
        <p:nvSpPr>
          <p:cNvPr id="63" name="Text 61"/>
          <p:cNvSpPr txBox="1"/>
          <p:nvPr/>
        </p:nvSpPr>
        <p:spPr>
          <a:xfrm>
            <a:off x="4663440" y="4882896"/>
            <a:ext cx="150418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580" dirty="0">
                <a:solidFill>
                  <a:srgbClr val="4A55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TF.js COCO-SSD · YOLOv8-seg · YOLOv11-crack</a:t>
            </a:r>
            <a:endParaRPr lang="en-US" sz="580" dirty="0"/>
          </a:p>
        </p:txBody>
      </p:sp>
      <p:sp>
        <p:nvSpPr>
          <p:cNvPr id="64" name="Shape 62"/>
          <p:cNvSpPr/>
          <p:nvPr/>
        </p:nvSpPr>
        <p:spPr>
          <a:xfrm>
            <a:off x="6332220" y="4617720"/>
            <a:ext cx="1650492" cy="4572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A878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6387084" y="4535424"/>
            <a:ext cx="219456" cy="219456"/>
          </a:xfrm>
          <a:prstGeom prst="ellipse">
            <a:avLst/>
          </a:prstGeom>
          <a:solidFill>
            <a:srgbClr val="00A878"/>
          </a:solidFill>
          <a:ln w="12700">
            <a:solidFill>
              <a:srgbClr val="00A878"/>
            </a:solidFill>
            <a:prstDash val="solid"/>
          </a:ln>
        </p:spPr>
      </p:sp>
      <p:sp>
        <p:nvSpPr>
          <p:cNvPr id="66" name="Text 64"/>
          <p:cNvSpPr txBox="1"/>
          <p:nvPr/>
        </p:nvSpPr>
        <p:spPr>
          <a:xfrm>
            <a:off x="6387084" y="4585716"/>
            <a:ext cx="21945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3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730" dirty="0"/>
          </a:p>
        </p:txBody>
      </p:sp>
      <p:sp>
        <p:nvSpPr>
          <p:cNvPr id="67" name="Text 65"/>
          <p:cNvSpPr txBox="1"/>
          <p:nvPr/>
        </p:nvSpPr>
        <p:spPr>
          <a:xfrm>
            <a:off x="6441948" y="4718304"/>
            <a:ext cx="14676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80" b="1" dirty="0">
                <a:solidFill>
                  <a:srgbClr val="00A8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RAZONAR</a:t>
            </a:r>
            <a:endParaRPr lang="en-US" sz="780" dirty="0"/>
          </a:p>
        </p:txBody>
      </p:sp>
      <p:sp>
        <p:nvSpPr>
          <p:cNvPr id="68" name="Text 66"/>
          <p:cNvSpPr txBox="1"/>
          <p:nvPr/>
        </p:nvSpPr>
        <p:spPr>
          <a:xfrm>
            <a:off x="6405372" y="4882896"/>
            <a:ext cx="150418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580" dirty="0">
                <a:solidFill>
                  <a:srgbClr val="4A55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Motor de reglas + LLM-as-judge</a:t>
            </a:r>
            <a:endParaRPr lang="en-US" sz="580" dirty="0"/>
          </a:p>
        </p:txBody>
      </p:sp>
      <p:sp>
        <p:nvSpPr>
          <p:cNvPr id="69" name="Shape 67"/>
          <p:cNvSpPr/>
          <p:nvPr/>
        </p:nvSpPr>
        <p:spPr>
          <a:xfrm>
            <a:off x="8074152" y="4617720"/>
            <a:ext cx="1650492" cy="4572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A878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8129016" y="4535424"/>
            <a:ext cx="219456" cy="219456"/>
          </a:xfrm>
          <a:prstGeom prst="ellipse">
            <a:avLst/>
          </a:prstGeom>
          <a:solidFill>
            <a:srgbClr val="00A878"/>
          </a:solidFill>
          <a:ln w="12700">
            <a:solidFill>
              <a:srgbClr val="00A878"/>
            </a:solidFill>
            <a:prstDash val="solid"/>
          </a:ln>
        </p:spPr>
      </p:sp>
      <p:sp>
        <p:nvSpPr>
          <p:cNvPr id="71" name="Text 69"/>
          <p:cNvSpPr txBox="1"/>
          <p:nvPr/>
        </p:nvSpPr>
        <p:spPr>
          <a:xfrm>
            <a:off x="8129016" y="4585716"/>
            <a:ext cx="21945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3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730" dirty="0"/>
          </a:p>
        </p:txBody>
      </p:sp>
      <p:sp>
        <p:nvSpPr>
          <p:cNvPr id="72" name="Text 70"/>
          <p:cNvSpPr txBox="1"/>
          <p:nvPr/>
        </p:nvSpPr>
        <p:spPr>
          <a:xfrm>
            <a:off x="8183880" y="4718304"/>
            <a:ext cx="14676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80" b="1" dirty="0">
                <a:solidFill>
                  <a:srgbClr val="00A8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ACTUAR</a:t>
            </a:r>
            <a:endParaRPr lang="en-US" sz="780" dirty="0"/>
          </a:p>
        </p:txBody>
      </p:sp>
      <p:sp>
        <p:nvSpPr>
          <p:cNvPr id="73" name="Text 71"/>
          <p:cNvSpPr txBox="1"/>
          <p:nvPr/>
        </p:nvSpPr>
        <p:spPr>
          <a:xfrm>
            <a:off x="8147304" y="4882896"/>
            <a:ext cx="150418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580" dirty="0">
                <a:solidFill>
                  <a:srgbClr val="4A55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Tool registry: captura · alerta · reporte</a:t>
            </a:r>
            <a:endParaRPr lang="en-US" sz="580" dirty="0"/>
          </a:p>
        </p:txBody>
      </p:sp>
      <p:sp>
        <p:nvSpPr>
          <p:cNvPr id="74" name="Shape 72"/>
          <p:cNvSpPr/>
          <p:nvPr/>
        </p:nvSpPr>
        <p:spPr>
          <a:xfrm>
            <a:off x="9816084" y="4617720"/>
            <a:ext cx="1650492" cy="457200"/>
          </a:xfrm>
          <a:prstGeom prst="roundRect">
            <a:avLst/>
          </a:prstGeom>
          <a:solidFill>
            <a:srgbClr val="E8F7F1"/>
          </a:solidFill>
          <a:ln w="15240">
            <a:solidFill>
              <a:srgbClr val="00A878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9870948" y="4535424"/>
            <a:ext cx="219456" cy="219456"/>
          </a:xfrm>
          <a:prstGeom prst="ellipse">
            <a:avLst/>
          </a:prstGeom>
          <a:solidFill>
            <a:srgbClr val="00A878"/>
          </a:solidFill>
          <a:ln w="12700">
            <a:solidFill>
              <a:srgbClr val="00A878"/>
            </a:solidFill>
            <a:prstDash val="solid"/>
          </a:ln>
        </p:spPr>
      </p:sp>
      <p:sp>
        <p:nvSpPr>
          <p:cNvPr id="76" name="Text 74"/>
          <p:cNvSpPr txBox="1"/>
          <p:nvPr/>
        </p:nvSpPr>
        <p:spPr>
          <a:xfrm>
            <a:off x="9870948" y="4585716"/>
            <a:ext cx="21945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3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730" dirty="0"/>
          </a:p>
        </p:txBody>
      </p:sp>
      <p:sp>
        <p:nvSpPr>
          <p:cNvPr id="77" name="Text 75"/>
          <p:cNvSpPr txBox="1"/>
          <p:nvPr/>
        </p:nvSpPr>
        <p:spPr>
          <a:xfrm>
            <a:off x="9925812" y="4718304"/>
            <a:ext cx="14676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80" b="1" dirty="0">
                <a:solidFill>
                  <a:srgbClr val="00A8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REFLEXIONAR / SELF-CORRECT</a:t>
            </a:r>
            <a:endParaRPr lang="en-US" sz="780" dirty="0"/>
          </a:p>
        </p:txBody>
      </p:sp>
      <p:sp>
        <p:nvSpPr>
          <p:cNvPr id="78" name="Text 76"/>
          <p:cNvSpPr txBox="1"/>
          <p:nvPr/>
        </p:nvSpPr>
        <p:spPr>
          <a:xfrm>
            <a:off x="9889236" y="4882896"/>
            <a:ext cx="150418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580" dirty="0">
                <a:solidFill>
                  <a:srgbClr val="4A55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Veredicto · siguiente ciclo · autocorrección</a:t>
            </a:r>
            <a:endParaRPr lang="en-US" sz="580" dirty="0"/>
          </a:p>
        </p:txBody>
      </p:sp>
      <p:sp>
        <p:nvSpPr>
          <p:cNvPr id="79" name="Shape 77"/>
          <p:cNvSpPr/>
          <p:nvPr/>
        </p:nvSpPr>
        <p:spPr>
          <a:xfrm>
            <a:off x="6240780" y="4846320"/>
            <a:ext cx="91440" cy="0"/>
          </a:xfrm>
          <a:prstGeom prst="line">
            <a:avLst/>
          </a:prstGeom>
          <a:noFill/>
          <a:ln w="21590">
            <a:solidFill>
              <a:srgbClr val="00A878"/>
            </a:solidFill>
            <a:prstDash val="solid"/>
            <a:tailEnd type="triangle"/>
          </a:ln>
        </p:spPr>
      </p:sp>
      <p:sp>
        <p:nvSpPr>
          <p:cNvPr id="80" name="Shape 78"/>
          <p:cNvSpPr/>
          <p:nvPr/>
        </p:nvSpPr>
        <p:spPr>
          <a:xfrm>
            <a:off x="7982712" y="4846320"/>
            <a:ext cx="91440" cy="0"/>
          </a:xfrm>
          <a:prstGeom prst="line">
            <a:avLst/>
          </a:prstGeom>
          <a:noFill/>
          <a:ln w="21590">
            <a:solidFill>
              <a:srgbClr val="00A878"/>
            </a:solidFill>
            <a:prstDash val="solid"/>
            <a:tailEnd type="triangle"/>
          </a:ln>
        </p:spPr>
      </p:sp>
      <p:sp>
        <p:nvSpPr>
          <p:cNvPr id="81" name="Shape 79"/>
          <p:cNvSpPr/>
          <p:nvPr/>
        </p:nvSpPr>
        <p:spPr>
          <a:xfrm>
            <a:off x="9724644" y="4846320"/>
            <a:ext cx="91440" cy="0"/>
          </a:xfrm>
          <a:prstGeom prst="line">
            <a:avLst/>
          </a:prstGeom>
          <a:noFill/>
          <a:ln w="21590">
            <a:solidFill>
              <a:srgbClr val="00A878"/>
            </a:solidFill>
            <a:prstDash val="solid"/>
            <a:tailEnd type="triangle"/>
          </a:ln>
        </p:spPr>
      </p:sp>
      <p:sp>
        <p:nvSpPr>
          <p:cNvPr id="82" name="Shape 80"/>
          <p:cNvSpPr/>
          <p:nvPr/>
        </p:nvSpPr>
        <p:spPr>
          <a:xfrm>
            <a:off x="10641330" y="5074920"/>
            <a:ext cx="0" cy="18288"/>
          </a:xfrm>
          <a:prstGeom prst="line">
            <a:avLst/>
          </a:prstGeom>
          <a:noFill/>
          <a:ln w="19050">
            <a:solidFill>
              <a:srgbClr val="00A878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5415534" y="5093208"/>
            <a:ext cx="5225796" cy="0"/>
          </a:xfrm>
          <a:prstGeom prst="line">
            <a:avLst/>
          </a:prstGeom>
          <a:noFill/>
          <a:ln w="19050">
            <a:solidFill>
              <a:srgbClr val="00A878"/>
            </a:solidFill>
            <a:prstDash val="solid"/>
            <a:headEnd type="triangle"/>
          </a:ln>
        </p:spPr>
      </p:sp>
      <p:sp>
        <p:nvSpPr>
          <p:cNvPr id="84" name="Shape 82"/>
          <p:cNvSpPr/>
          <p:nvPr/>
        </p:nvSpPr>
        <p:spPr>
          <a:xfrm>
            <a:off x="5415534" y="5074920"/>
            <a:ext cx="0" cy="18288"/>
          </a:xfrm>
          <a:prstGeom prst="line">
            <a:avLst/>
          </a:prstGeom>
          <a:noFill/>
          <a:ln w="19050">
            <a:solidFill>
              <a:srgbClr val="00A878"/>
            </a:solidFill>
            <a:prstDash val="solid"/>
          </a:ln>
        </p:spPr>
      </p:sp>
      <p:sp>
        <p:nvSpPr>
          <p:cNvPr id="85" name="Text 83"/>
          <p:cNvSpPr txBox="1"/>
          <p:nvPr/>
        </p:nvSpPr>
        <p:spPr>
          <a:xfrm>
            <a:off x="7134515" y="4956048"/>
            <a:ext cx="206288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680" b="1" dirty="0">
                <a:solidFill>
                  <a:srgbClr val="00A8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↻ ciclo autónomo con evidencia</a:t>
            </a:r>
            <a:endParaRPr lang="en-US" sz="680" dirty="0"/>
          </a:p>
        </p:txBody>
      </p:sp>
      <p:sp>
        <p:nvSpPr>
          <p:cNvPr id="86" name="Shape 84"/>
          <p:cNvSpPr/>
          <p:nvPr/>
        </p:nvSpPr>
        <p:spPr>
          <a:xfrm>
            <a:off x="6240597" y="5321808"/>
            <a:ext cx="3575670" cy="347472"/>
          </a:xfrm>
          <a:prstGeom prst="roundRect">
            <a:avLst/>
          </a:prstGeom>
          <a:solidFill>
            <a:srgbClr val="FFF2E8"/>
          </a:solidFill>
          <a:ln w="12700">
            <a:solidFill>
              <a:srgbClr val="FF7800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6313749" y="5385816"/>
            <a:ext cx="201168" cy="201168"/>
          </a:xfrm>
          <a:prstGeom prst="ellipse">
            <a:avLst/>
          </a:prstGeom>
          <a:solidFill>
            <a:srgbClr val="FF7800"/>
          </a:solidFill>
          <a:ln w="12700">
            <a:solidFill>
              <a:srgbClr val="FF7800"/>
            </a:solidFill>
            <a:prstDash val="solid"/>
          </a:ln>
        </p:spPr>
      </p:sp>
      <p:sp>
        <p:nvSpPr>
          <p:cNvPr id="88" name="Text 86"/>
          <p:cNvSpPr txBox="1"/>
          <p:nvPr/>
        </p:nvSpPr>
        <p:spPr>
          <a:xfrm>
            <a:off x="6313749" y="5417820"/>
            <a:ext cx="20116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</a:t>
            </a:r>
            <a:endParaRPr lang="en-US" sz="750" dirty="0"/>
          </a:p>
        </p:txBody>
      </p:sp>
      <p:sp>
        <p:nvSpPr>
          <p:cNvPr id="89" name="Text 87"/>
          <p:cNvSpPr txBox="1"/>
          <p:nvPr/>
        </p:nvSpPr>
        <p:spPr>
          <a:xfrm>
            <a:off x="6569781" y="5413248"/>
            <a:ext cx="317333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660" b="1" dirty="0">
                <a:solidFill>
                  <a:srgbClr val="1822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Human Feedback / retroalimentación: reconocer · silenciar · ajustar umbral · circuit breaker</a:t>
            </a:r>
            <a:endParaRPr lang="en-US" sz="660" dirty="0"/>
          </a:p>
        </p:txBody>
      </p:sp>
      <p:sp>
        <p:nvSpPr>
          <p:cNvPr id="90" name="Shape 88"/>
          <p:cNvSpPr/>
          <p:nvPr/>
        </p:nvSpPr>
        <p:spPr>
          <a:xfrm>
            <a:off x="8028432" y="5321808"/>
            <a:ext cx="0" cy="-201168"/>
          </a:xfrm>
          <a:prstGeom prst="line">
            <a:avLst/>
          </a:prstGeom>
          <a:noFill/>
          <a:ln w="15240">
            <a:solidFill>
              <a:srgbClr val="FF7800"/>
            </a:solidFill>
            <a:prstDash val="dash"/>
            <a:headEnd type="triangle"/>
            <a:tailEnd type="triangle"/>
          </a:ln>
        </p:spPr>
      </p:sp>
      <p:sp>
        <p:nvSpPr>
          <p:cNvPr id="91" name="Text 89"/>
          <p:cNvSpPr txBox="1"/>
          <p:nvPr/>
        </p:nvSpPr>
        <p:spPr>
          <a:xfrm>
            <a:off x="4507992" y="5696712"/>
            <a:ext cx="6967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90" b="1" dirty="0">
                <a:solidFill>
                  <a:srgbClr val="1822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APLICACIÓN SOBRE LOS 12 ESCENARIOS: valida falsos positivos, prioriza, captura evidencia, notifica, despacha atención y genera reporte. En desastre: SASPe → webhook → escaneo → clasificación de daño → INDECI/SINPAD. CONTINUIDAD: misma arquitectura de cinco etapas · ActionLog inmutable · LLM-as-judge · circuit breaker · zero-backend.</a:t>
            </a:r>
            <a:endParaRPr lang="en-US" sz="690" dirty="0"/>
          </a:p>
        </p:txBody>
      </p:sp>
      <p:sp>
        <p:nvSpPr>
          <p:cNvPr id="92" name="Shape 90"/>
          <p:cNvSpPr/>
          <p:nvPr/>
        </p:nvSpPr>
        <p:spPr>
          <a:xfrm>
            <a:off x="8851392" y="4096512"/>
            <a:ext cx="2523744" cy="228600"/>
          </a:xfrm>
          <a:prstGeom prst="roundRect">
            <a:avLst/>
          </a:prstGeom>
          <a:solidFill>
            <a:srgbClr val="00A878"/>
          </a:solidFill>
          <a:ln w="7620">
            <a:solidFill>
              <a:srgbClr val="00A878"/>
            </a:solidFill>
            <a:prstDash val="solid"/>
          </a:ln>
        </p:spPr>
      </p:sp>
      <p:sp>
        <p:nvSpPr>
          <p:cNvPr id="93" name="Text 91"/>
          <p:cNvSpPr txBox="1"/>
          <p:nvPr/>
        </p:nvSpPr>
        <p:spPr>
          <a:xfrm>
            <a:off x="8887968" y="4137660"/>
            <a:ext cx="24505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69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VALOR: RESPUESTA DE EXTREMO A EXTREMO</a:t>
            </a:r>
            <a:endParaRPr lang="en-US" sz="69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70">
                <a:solidFill>
                  <a:srgbClr val="AAB3C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256032"/>
            <a:ext cx="475488" cy="329184"/>
          </a:xfrm>
          <a:prstGeom prst="roundRect">
            <a:avLst/>
          </a:prstGeom>
          <a:solidFill>
            <a:srgbClr val="0A2A66"/>
          </a:solidFill>
          <a:ln w="12700">
            <a:solidFill>
              <a:srgbClr val="0A2A6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30352" y="338328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5400000">
            <a:off x="795528" y="329184"/>
            <a:ext cx="164592" cy="164592"/>
          </a:xfrm>
          <a:prstGeom prst="triangle">
            <a:avLst/>
          </a:prstGeom>
          <a:solidFill>
            <a:srgbClr val="FF7800"/>
          </a:solidFill>
          <a:ln w="12700">
            <a:solidFill>
              <a:srgbClr val="FF780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24128" y="219456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20" b="1" dirty="0">
                <a:solidFill>
                  <a:srgbClr val="FF78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ALTERNATIVA 2 · DEL SCORE A LA RESPUESTA</a:t>
            </a:r>
            <a:endParaRPr lang="en-US" sz="82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438912"/>
            <a:ext cx="10698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0A2A6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El salto no está en otra cámara: está en la capa que convierte una alerta en una atención resuelta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1024128" y="905256"/>
            <a:ext cx="10469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10" dirty="0">
                <a:solidFill>
                  <a:srgbClr val="4A55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Mensaje de alto impacto para el VP: ML/DL mejora lo que la cámara ve; la IA agentic cambia lo que la organización hace después de verlo.</a:t>
            </a:r>
            <a:endParaRPr lang="en-US" sz="1010" dirty="0"/>
          </a:p>
        </p:txBody>
      </p:sp>
      <p:sp>
        <p:nvSpPr>
          <p:cNvPr id="8" name="Shape 6"/>
          <p:cNvSpPr/>
          <p:nvPr/>
        </p:nvSpPr>
        <p:spPr>
          <a:xfrm>
            <a:off x="457200" y="1307592"/>
            <a:ext cx="530352" cy="228600"/>
          </a:xfrm>
          <a:prstGeom prst="roundRect">
            <a:avLst/>
          </a:prstGeom>
          <a:solidFill>
            <a:srgbClr val="7B8799"/>
          </a:solidFill>
          <a:ln w="7620">
            <a:solidFill>
              <a:srgbClr val="7B8799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93776" y="1348740"/>
            <a:ext cx="457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HOY</a:t>
            </a:r>
            <a:endParaRPr lang="en-US" sz="720" dirty="0"/>
          </a:p>
        </p:txBody>
      </p:sp>
      <p:sp>
        <p:nvSpPr>
          <p:cNvPr id="10" name="Text 8"/>
          <p:cNvSpPr txBox="1"/>
          <p:nvPr/>
        </p:nvSpPr>
        <p:spPr>
          <a:xfrm>
            <a:off x="1097280" y="1271016"/>
            <a:ext cx="3337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0A2A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Cámaras + modelos de visión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097280" y="1545336"/>
            <a:ext cx="37947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20" dirty="0">
                <a:solidFill>
                  <a:srgbClr val="4A55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modelo analiza el fotograma, entrega una clase y un puntaje; un software tradicional muestra o transmite la alerta.</a:t>
            </a:r>
            <a:endParaRPr lang="en-US" sz="920" dirty="0"/>
          </a:p>
        </p:txBody>
      </p:sp>
      <p:sp>
        <p:nvSpPr>
          <p:cNvPr id="12" name="Shape 10"/>
          <p:cNvSpPr/>
          <p:nvPr/>
        </p:nvSpPr>
        <p:spPr>
          <a:xfrm>
            <a:off x="4937760" y="1609344"/>
            <a:ext cx="3017520" cy="0"/>
          </a:xfrm>
          <a:prstGeom prst="line">
            <a:avLst/>
          </a:prstGeom>
          <a:noFill/>
          <a:ln w="63500">
            <a:solidFill>
              <a:srgbClr val="00A8E8"/>
            </a:solidFill>
            <a:prstDash val="solid"/>
            <a:tailEnd type="triangle"/>
          </a:ln>
        </p:spPr>
      </p:sp>
      <p:sp>
        <p:nvSpPr>
          <p:cNvPr id="13" name="Text 11"/>
          <p:cNvSpPr txBox="1"/>
          <p:nvPr/>
        </p:nvSpPr>
        <p:spPr>
          <a:xfrm>
            <a:off x="5230368" y="1325880"/>
            <a:ext cx="2423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70" b="1" dirty="0">
                <a:solidFill>
                  <a:srgbClr val="00A8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ML / DL: MEJOR PERCEPCIÓN</a:t>
            </a:r>
            <a:endParaRPr lang="en-US" sz="770" dirty="0"/>
          </a:p>
        </p:txBody>
      </p:sp>
      <p:sp>
        <p:nvSpPr>
          <p:cNvPr id="14" name="Shape 12"/>
          <p:cNvSpPr/>
          <p:nvPr/>
        </p:nvSpPr>
        <p:spPr>
          <a:xfrm>
            <a:off x="8092440" y="1243584"/>
            <a:ext cx="3639312" cy="1444752"/>
          </a:xfrm>
          <a:prstGeom prst="roundRect">
            <a:avLst/>
          </a:prstGeom>
          <a:solidFill>
            <a:srgbClr val="E9F7FC"/>
          </a:solidFill>
          <a:ln w="12700">
            <a:solidFill>
              <a:srgbClr val="00A8E8"/>
            </a:solidFill>
            <a:prstDash val="solid"/>
          </a:ln>
          <a:effectLst>
            <a:outerShdw sx="100000" sy="100000" kx="0" ky="0" algn="bl" rotWithShape="0" blurRad="12700" dist="50800" dir="2700000">
              <a:srgbClr val="7A8799">
                <a:alpha val="12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8275320" y="1417320"/>
            <a:ext cx="327355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30" b="1" dirty="0">
                <a:solidFill>
                  <a:srgbClr val="00A8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FUNCIONALIDADES QUE YA PODEMOS DETECTAR</a:t>
            </a:r>
            <a:endParaRPr lang="en-US" sz="730" dirty="0"/>
          </a:p>
        </p:txBody>
      </p:sp>
      <p:sp>
        <p:nvSpPr>
          <p:cNvPr id="16" name="Text 14"/>
          <p:cNvSpPr txBox="1"/>
          <p:nvPr/>
        </p:nvSpPr>
        <p:spPr>
          <a:xfrm>
            <a:off x="8275320" y="1664208"/>
            <a:ext cx="327355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10" dirty="0">
                <a:solidFill>
                  <a:srgbClr val="1822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Estacionamientos y bahías · tráfico peatonal y colas · graffiti · objeto abandonado · fuego/humo · vehículo fuera de horario · piso mojado · perímetro térmico · inteligencia de flujo. También: nivel de agua, movimiento de ladera y daño post-sismo.</a:t>
            </a:r>
            <a:endParaRPr lang="en-US" sz="810" dirty="0"/>
          </a:p>
        </p:txBody>
      </p:sp>
      <p:sp>
        <p:nvSpPr>
          <p:cNvPr id="17" name="Shape 15"/>
          <p:cNvSpPr/>
          <p:nvPr/>
        </p:nvSpPr>
        <p:spPr>
          <a:xfrm>
            <a:off x="8887968" y="2386584"/>
            <a:ext cx="2057400" cy="22860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CF3A45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924544" y="2427732"/>
            <a:ext cx="19842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00" b="1" dirty="0">
                <a:solidFill>
                  <a:srgbClr val="CF3A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LÍMITE: ALERTA PUNTUAL, SIN CERRAR EL CASO</a:t>
            </a:r>
            <a:endParaRPr lang="en-US" sz="700" dirty="0"/>
          </a:p>
        </p:txBody>
      </p:sp>
      <p:sp>
        <p:nvSpPr>
          <p:cNvPr id="19" name="Shape 17"/>
          <p:cNvSpPr/>
          <p:nvPr/>
        </p:nvSpPr>
        <p:spPr>
          <a:xfrm rot="8100000">
            <a:off x="5961888" y="2468880"/>
            <a:ext cx="1051560" cy="1097280"/>
          </a:xfrm>
          <a:prstGeom prst="chevron">
            <a:avLst/>
          </a:prstGeom>
          <a:solidFill>
            <a:srgbClr val="FF7800"/>
          </a:solidFill>
          <a:ln w="12700">
            <a:solidFill>
              <a:srgbClr val="FF780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074920" y="2788920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FF78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SALTO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4526280" y="3044952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20" dirty="0">
                <a:solidFill>
                  <a:srgbClr val="7B87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contexto + herramientas + feedback</a:t>
            </a:r>
            <a:endParaRPr lang="en-US" sz="720" dirty="0"/>
          </a:p>
        </p:txBody>
      </p:sp>
      <p:sp>
        <p:nvSpPr>
          <p:cNvPr id="22" name="Shape 20"/>
          <p:cNvSpPr/>
          <p:nvPr/>
        </p:nvSpPr>
        <p:spPr>
          <a:xfrm>
            <a:off x="457200" y="3493008"/>
            <a:ext cx="4069080" cy="2414016"/>
          </a:xfrm>
          <a:prstGeom prst="roundRect">
            <a:avLst/>
          </a:prstGeom>
          <a:solidFill>
            <a:srgbClr val="FFF2E8"/>
          </a:solidFill>
          <a:ln w="12700">
            <a:solidFill>
              <a:srgbClr val="FF7800"/>
            </a:solidFill>
            <a:prstDash val="solid"/>
          </a:ln>
          <a:effectLst>
            <a:outerShdw sx="100000" sy="100000" kx="0" ky="0" algn="bl" rotWithShape="0" blurRad="12700" dist="50800" dir="2700000">
              <a:srgbClr val="7A8799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58368" y="3685032"/>
            <a:ext cx="658368" cy="228600"/>
          </a:xfrm>
          <a:prstGeom prst="roundRect">
            <a:avLst/>
          </a:prstGeom>
          <a:solidFill>
            <a:srgbClr val="FF7800"/>
          </a:solidFill>
          <a:ln w="7620">
            <a:solidFill>
              <a:srgbClr val="FF7800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94944" y="3726180"/>
            <a:ext cx="58521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ETAPA 3</a:t>
            </a:r>
            <a:endParaRPr lang="en-US" sz="720" dirty="0"/>
          </a:p>
        </p:txBody>
      </p:sp>
      <p:sp>
        <p:nvSpPr>
          <p:cNvPr id="25" name="Text 23"/>
          <p:cNvSpPr txBox="1"/>
          <p:nvPr/>
        </p:nvSpPr>
        <p:spPr>
          <a:xfrm>
            <a:off x="1417320" y="3675888"/>
            <a:ext cx="27614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20" b="1" dirty="0">
                <a:solidFill>
                  <a:srgbClr val="0A2A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IA generativa</a:t>
            </a:r>
            <a:endParaRPr lang="en-US" sz="1420" dirty="0"/>
          </a:p>
        </p:txBody>
      </p:sp>
      <p:sp>
        <p:nvSpPr>
          <p:cNvPr id="26" name="Text 24"/>
          <p:cNvSpPr txBox="1"/>
          <p:nvPr/>
        </p:nvSpPr>
        <p:spPr>
          <a:xfrm>
            <a:off x="658368" y="4050792"/>
            <a:ext cx="3584448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1822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Explica lo ocurrido y prepara contenido para el operador: descripción, resumen por sede, consulta natural, traducción y borrador de reportes.</a:t>
            </a:r>
            <a:endParaRPr lang="en-US" sz="900" dirty="0"/>
          </a:p>
        </p:txBody>
      </p:sp>
      <p:sp>
        <p:nvSpPr>
          <p:cNvPr id="27" name="Text 25"/>
          <p:cNvSpPr txBox="1"/>
          <p:nvPr/>
        </p:nvSpPr>
        <p:spPr>
          <a:xfrm>
            <a:off x="658368" y="4599432"/>
            <a:ext cx="1097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20" b="1" dirty="0">
                <a:solidFill>
                  <a:srgbClr val="FF78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APLICACIONES</a:t>
            </a:r>
            <a:endParaRPr lang="en-US" sz="720" dirty="0"/>
          </a:p>
        </p:txBody>
      </p:sp>
      <p:sp>
        <p:nvSpPr>
          <p:cNvPr id="28" name="Text 26"/>
          <p:cNvSpPr txBox="1"/>
          <p:nvPr/>
        </p:nvSpPr>
        <p:spPr>
          <a:xfrm>
            <a:off x="658368" y="4809744"/>
            <a:ext cx="34930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4A55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“¿Qué pasó y por qué escaló?”</a:t>
            </a:r>
            <a:endParaRPr lang="en-US" sz="8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4A55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Reporte de fuego, intrusión o abandono</a:t>
            </a:r>
            <a:endParaRPr lang="en-US" sz="8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4A55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Resumen de agua, ladera o grietas</a:t>
            </a:r>
            <a:endParaRPr lang="en-US" sz="8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4A55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Comparación con incidentes similares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658368" y="5513832"/>
            <a:ext cx="3584448" cy="35661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780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58368" y="5513832"/>
            <a:ext cx="64008" cy="356616"/>
          </a:xfrm>
          <a:prstGeom prst="rect">
            <a:avLst/>
          </a:prstGeom>
          <a:solidFill>
            <a:srgbClr val="FF7800"/>
          </a:solidFill>
          <a:ln w="12700">
            <a:solidFill>
              <a:srgbClr val="FF7800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804672" y="5577840"/>
            <a:ext cx="33832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70" b="1" dirty="0">
                <a:solidFill>
                  <a:srgbClr val="1822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VALOR: menos tiempo interpretando y redactando.</a:t>
            </a:r>
            <a:endParaRPr lang="en-US" sz="770" dirty="0"/>
          </a:p>
        </p:txBody>
      </p:sp>
      <p:sp>
        <p:nvSpPr>
          <p:cNvPr id="32" name="Shape 30"/>
          <p:cNvSpPr/>
          <p:nvPr/>
        </p:nvSpPr>
        <p:spPr>
          <a:xfrm>
            <a:off x="4535424" y="4654296"/>
            <a:ext cx="941832" cy="0"/>
          </a:xfrm>
          <a:prstGeom prst="line">
            <a:avLst/>
          </a:prstGeom>
          <a:noFill/>
          <a:ln w="63500">
            <a:solidFill>
              <a:srgbClr val="FF7800"/>
            </a:solidFill>
            <a:prstDash val="solid"/>
            <a:tailEnd type="triangle"/>
          </a:ln>
        </p:spPr>
      </p:sp>
      <p:sp>
        <p:nvSpPr>
          <p:cNvPr id="33" name="Text 31"/>
          <p:cNvSpPr txBox="1"/>
          <p:nvPr/>
        </p:nvSpPr>
        <p:spPr>
          <a:xfrm>
            <a:off x="4361688" y="4315968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20" b="1" dirty="0">
                <a:solidFill>
                  <a:srgbClr val="FF78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CIERRA EL LOOP</a:t>
            </a:r>
            <a:endParaRPr lang="en-US" sz="720" dirty="0"/>
          </a:p>
        </p:txBody>
      </p:sp>
      <p:sp>
        <p:nvSpPr>
          <p:cNvPr id="34" name="Shape 32"/>
          <p:cNvSpPr/>
          <p:nvPr/>
        </p:nvSpPr>
        <p:spPr>
          <a:xfrm>
            <a:off x="5577840" y="3246120"/>
            <a:ext cx="6153912" cy="2880360"/>
          </a:xfrm>
          <a:prstGeom prst="roundRect">
            <a:avLst/>
          </a:prstGeom>
          <a:solidFill>
            <a:srgbClr val="F0FBF6"/>
          </a:solidFill>
          <a:ln w="12700">
            <a:solidFill>
              <a:srgbClr val="00A878"/>
            </a:solidFill>
            <a:prstDash val="solid"/>
          </a:ln>
          <a:effectLst>
            <a:outerShdw sx="100000" sy="100000" kx="0" ky="0" algn="bl" rotWithShape="0" blurRad="12700" dist="50800" dir="2700000">
              <a:srgbClr val="7A8799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5806440" y="3456432"/>
            <a:ext cx="1325880" cy="228600"/>
          </a:xfrm>
          <a:prstGeom prst="roundRect">
            <a:avLst/>
          </a:prstGeom>
          <a:solidFill>
            <a:srgbClr val="00A878"/>
          </a:solidFill>
          <a:ln w="7620">
            <a:solidFill>
              <a:srgbClr val="00A878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5843016" y="3497580"/>
            <a:ext cx="125272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FUTURO OBJETIVO</a:t>
            </a:r>
            <a:endParaRPr lang="en-US" sz="720" dirty="0"/>
          </a:p>
        </p:txBody>
      </p:sp>
      <p:sp>
        <p:nvSpPr>
          <p:cNvPr id="37" name="Text 35"/>
          <p:cNvSpPr txBox="1"/>
          <p:nvPr/>
        </p:nvSpPr>
        <p:spPr>
          <a:xfrm>
            <a:off x="7269480" y="3419856"/>
            <a:ext cx="4096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430" b="1" dirty="0">
                <a:solidFill>
                  <a:srgbClr val="0A2A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IA AGENTIC PARA SEGURIDAD DE SEDES</a:t>
            </a:r>
            <a:endParaRPr lang="en-US" sz="1430" dirty="0"/>
          </a:p>
        </p:txBody>
      </p:sp>
      <p:sp>
        <p:nvSpPr>
          <p:cNvPr id="38" name="Text 36"/>
          <p:cNvSpPr txBox="1"/>
          <p:nvPr/>
        </p:nvSpPr>
        <p:spPr>
          <a:xfrm>
            <a:off x="5806440" y="3822192"/>
            <a:ext cx="551383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70" dirty="0">
                <a:solidFill>
                  <a:srgbClr val="4A55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 agente por fuera puede trabajar sobre cámaras inteligentes o no inteligentes: consume video y alertas, combina contexto, decide el siguiente paso, ejecuta herramientas y deja trazabilidad.</a:t>
            </a:r>
            <a:endParaRPr lang="en-US" sz="870" dirty="0"/>
          </a:p>
        </p:txBody>
      </p:sp>
      <p:sp>
        <p:nvSpPr>
          <p:cNvPr id="39" name="Shape 37"/>
          <p:cNvSpPr/>
          <p:nvPr/>
        </p:nvSpPr>
        <p:spPr>
          <a:xfrm>
            <a:off x="5870448" y="4343400"/>
            <a:ext cx="1280160" cy="4572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A878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925312" y="4261104"/>
            <a:ext cx="219456" cy="219456"/>
          </a:xfrm>
          <a:prstGeom prst="ellipse">
            <a:avLst/>
          </a:prstGeom>
          <a:solidFill>
            <a:srgbClr val="00A878"/>
          </a:solidFill>
          <a:ln w="12700">
            <a:solidFill>
              <a:srgbClr val="00A878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5925312" y="4311396"/>
            <a:ext cx="21945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3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730" dirty="0"/>
          </a:p>
        </p:txBody>
      </p:sp>
      <p:sp>
        <p:nvSpPr>
          <p:cNvPr id="42" name="Text 40"/>
          <p:cNvSpPr txBox="1"/>
          <p:nvPr/>
        </p:nvSpPr>
        <p:spPr>
          <a:xfrm>
            <a:off x="5980176" y="4443984"/>
            <a:ext cx="1097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80" b="1" dirty="0">
                <a:solidFill>
                  <a:srgbClr val="00A8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PERCIBIR</a:t>
            </a:r>
            <a:endParaRPr lang="en-US" sz="780" dirty="0"/>
          </a:p>
        </p:txBody>
      </p:sp>
      <p:sp>
        <p:nvSpPr>
          <p:cNvPr id="43" name="Text 41"/>
          <p:cNvSpPr txBox="1"/>
          <p:nvPr/>
        </p:nvSpPr>
        <p:spPr>
          <a:xfrm>
            <a:off x="5943600" y="4608576"/>
            <a:ext cx="113385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580" dirty="0">
                <a:solidFill>
                  <a:srgbClr val="4A55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TF.js COCO-SSD · YOLOv8-seg · YOLOv11-crack</a:t>
            </a:r>
            <a:endParaRPr lang="en-US" sz="580" dirty="0"/>
          </a:p>
        </p:txBody>
      </p:sp>
      <p:sp>
        <p:nvSpPr>
          <p:cNvPr id="44" name="Shape 42"/>
          <p:cNvSpPr/>
          <p:nvPr/>
        </p:nvSpPr>
        <p:spPr>
          <a:xfrm>
            <a:off x="7242048" y="4343400"/>
            <a:ext cx="1280160" cy="4572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A878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296912" y="4261104"/>
            <a:ext cx="219456" cy="219456"/>
          </a:xfrm>
          <a:prstGeom prst="ellipse">
            <a:avLst/>
          </a:prstGeom>
          <a:solidFill>
            <a:srgbClr val="00A878"/>
          </a:solidFill>
          <a:ln w="12700">
            <a:solidFill>
              <a:srgbClr val="00A878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7296912" y="4311396"/>
            <a:ext cx="21945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3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730" dirty="0"/>
          </a:p>
        </p:txBody>
      </p:sp>
      <p:sp>
        <p:nvSpPr>
          <p:cNvPr id="47" name="Text 45"/>
          <p:cNvSpPr txBox="1"/>
          <p:nvPr/>
        </p:nvSpPr>
        <p:spPr>
          <a:xfrm>
            <a:off x="7351776" y="4443984"/>
            <a:ext cx="1097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80" b="1" dirty="0">
                <a:solidFill>
                  <a:srgbClr val="00A8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RAZONAR</a:t>
            </a:r>
            <a:endParaRPr lang="en-US" sz="780" dirty="0"/>
          </a:p>
        </p:txBody>
      </p:sp>
      <p:sp>
        <p:nvSpPr>
          <p:cNvPr id="48" name="Text 46"/>
          <p:cNvSpPr txBox="1"/>
          <p:nvPr/>
        </p:nvSpPr>
        <p:spPr>
          <a:xfrm>
            <a:off x="7315200" y="4608576"/>
            <a:ext cx="113385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580" dirty="0">
                <a:solidFill>
                  <a:srgbClr val="4A55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Motor de reglas + LLM-as-judge</a:t>
            </a:r>
            <a:endParaRPr lang="en-US" sz="580" dirty="0"/>
          </a:p>
        </p:txBody>
      </p:sp>
      <p:sp>
        <p:nvSpPr>
          <p:cNvPr id="49" name="Shape 47"/>
          <p:cNvSpPr/>
          <p:nvPr/>
        </p:nvSpPr>
        <p:spPr>
          <a:xfrm>
            <a:off x="8613648" y="4343400"/>
            <a:ext cx="1280160" cy="4572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A878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8668512" y="4261104"/>
            <a:ext cx="219456" cy="219456"/>
          </a:xfrm>
          <a:prstGeom prst="ellipse">
            <a:avLst/>
          </a:prstGeom>
          <a:solidFill>
            <a:srgbClr val="00A878"/>
          </a:solidFill>
          <a:ln w="12700">
            <a:solidFill>
              <a:srgbClr val="00A878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8668512" y="4311396"/>
            <a:ext cx="21945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3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730" dirty="0"/>
          </a:p>
        </p:txBody>
      </p:sp>
      <p:sp>
        <p:nvSpPr>
          <p:cNvPr id="52" name="Text 50"/>
          <p:cNvSpPr txBox="1"/>
          <p:nvPr/>
        </p:nvSpPr>
        <p:spPr>
          <a:xfrm>
            <a:off x="8723376" y="4443984"/>
            <a:ext cx="1097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80" b="1" dirty="0">
                <a:solidFill>
                  <a:srgbClr val="00A8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ACTUAR</a:t>
            </a:r>
            <a:endParaRPr lang="en-US" sz="780" dirty="0"/>
          </a:p>
        </p:txBody>
      </p:sp>
      <p:sp>
        <p:nvSpPr>
          <p:cNvPr id="53" name="Text 51"/>
          <p:cNvSpPr txBox="1"/>
          <p:nvPr/>
        </p:nvSpPr>
        <p:spPr>
          <a:xfrm>
            <a:off x="8686800" y="4608576"/>
            <a:ext cx="113385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580" dirty="0">
                <a:solidFill>
                  <a:srgbClr val="4A55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Tool registry: captura · alerta · reporte</a:t>
            </a:r>
            <a:endParaRPr lang="en-US" sz="580" dirty="0"/>
          </a:p>
        </p:txBody>
      </p:sp>
      <p:sp>
        <p:nvSpPr>
          <p:cNvPr id="54" name="Shape 52"/>
          <p:cNvSpPr/>
          <p:nvPr/>
        </p:nvSpPr>
        <p:spPr>
          <a:xfrm>
            <a:off x="9985248" y="4343400"/>
            <a:ext cx="1280160" cy="457200"/>
          </a:xfrm>
          <a:prstGeom prst="roundRect">
            <a:avLst/>
          </a:prstGeom>
          <a:solidFill>
            <a:srgbClr val="E8F7F1"/>
          </a:solidFill>
          <a:ln w="15240">
            <a:solidFill>
              <a:srgbClr val="00A878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10040112" y="4261104"/>
            <a:ext cx="219456" cy="219456"/>
          </a:xfrm>
          <a:prstGeom prst="ellipse">
            <a:avLst/>
          </a:prstGeom>
          <a:solidFill>
            <a:srgbClr val="00A878"/>
          </a:solidFill>
          <a:ln w="12700">
            <a:solidFill>
              <a:srgbClr val="00A878"/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10040112" y="4311396"/>
            <a:ext cx="21945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3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730" dirty="0"/>
          </a:p>
        </p:txBody>
      </p:sp>
      <p:sp>
        <p:nvSpPr>
          <p:cNvPr id="57" name="Text 55"/>
          <p:cNvSpPr txBox="1"/>
          <p:nvPr/>
        </p:nvSpPr>
        <p:spPr>
          <a:xfrm>
            <a:off x="10094976" y="4443984"/>
            <a:ext cx="1097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80" b="1" dirty="0">
                <a:solidFill>
                  <a:srgbClr val="00A8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REFLEXIONAR / SELF-CORRECT</a:t>
            </a:r>
            <a:endParaRPr lang="en-US" sz="780" dirty="0"/>
          </a:p>
        </p:txBody>
      </p:sp>
      <p:sp>
        <p:nvSpPr>
          <p:cNvPr id="58" name="Text 56"/>
          <p:cNvSpPr txBox="1"/>
          <p:nvPr/>
        </p:nvSpPr>
        <p:spPr>
          <a:xfrm>
            <a:off x="10058400" y="4608576"/>
            <a:ext cx="113385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580" dirty="0">
                <a:solidFill>
                  <a:srgbClr val="4A55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Veredicto · siguiente ciclo · autocorrección</a:t>
            </a:r>
            <a:endParaRPr lang="en-US" sz="580" dirty="0"/>
          </a:p>
        </p:txBody>
      </p:sp>
      <p:sp>
        <p:nvSpPr>
          <p:cNvPr id="59" name="Shape 57"/>
          <p:cNvSpPr/>
          <p:nvPr/>
        </p:nvSpPr>
        <p:spPr>
          <a:xfrm>
            <a:off x="7150608" y="4572000"/>
            <a:ext cx="91440" cy="0"/>
          </a:xfrm>
          <a:prstGeom prst="line">
            <a:avLst/>
          </a:prstGeom>
          <a:noFill/>
          <a:ln w="21590">
            <a:solidFill>
              <a:srgbClr val="00A878"/>
            </a:solidFill>
            <a:prstDash val="solid"/>
            <a:tailEnd type="triangle"/>
          </a:ln>
        </p:spPr>
      </p:sp>
      <p:sp>
        <p:nvSpPr>
          <p:cNvPr id="60" name="Shape 58"/>
          <p:cNvSpPr/>
          <p:nvPr/>
        </p:nvSpPr>
        <p:spPr>
          <a:xfrm>
            <a:off x="8522208" y="4572000"/>
            <a:ext cx="91440" cy="0"/>
          </a:xfrm>
          <a:prstGeom prst="line">
            <a:avLst/>
          </a:prstGeom>
          <a:noFill/>
          <a:ln w="21590">
            <a:solidFill>
              <a:srgbClr val="00A878"/>
            </a:solidFill>
            <a:prstDash val="solid"/>
            <a:tailEnd type="triangle"/>
          </a:ln>
        </p:spPr>
      </p:sp>
      <p:sp>
        <p:nvSpPr>
          <p:cNvPr id="61" name="Shape 59"/>
          <p:cNvSpPr/>
          <p:nvPr/>
        </p:nvSpPr>
        <p:spPr>
          <a:xfrm>
            <a:off x="9893808" y="4572000"/>
            <a:ext cx="91440" cy="0"/>
          </a:xfrm>
          <a:prstGeom prst="line">
            <a:avLst/>
          </a:prstGeom>
          <a:noFill/>
          <a:ln w="21590">
            <a:solidFill>
              <a:srgbClr val="00A878"/>
            </a:solidFill>
            <a:prstDash val="solid"/>
            <a:tailEnd type="triangle"/>
          </a:ln>
        </p:spPr>
      </p:sp>
      <p:sp>
        <p:nvSpPr>
          <p:cNvPr id="62" name="Shape 60"/>
          <p:cNvSpPr/>
          <p:nvPr/>
        </p:nvSpPr>
        <p:spPr>
          <a:xfrm>
            <a:off x="10625328" y="4800600"/>
            <a:ext cx="0" cy="18288"/>
          </a:xfrm>
          <a:prstGeom prst="line">
            <a:avLst/>
          </a:prstGeom>
          <a:noFill/>
          <a:ln w="19050">
            <a:solidFill>
              <a:srgbClr val="00A878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6510528" y="4818888"/>
            <a:ext cx="4114800" cy="0"/>
          </a:xfrm>
          <a:prstGeom prst="line">
            <a:avLst/>
          </a:prstGeom>
          <a:noFill/>
          <a:ln w="19050">
            <a:solidFill>
              <a:srgbClr val="00A878"/>
            </a:solidFill>
            <a:prstDash val="solid"/>
            <a:headEnd type="triangle"/>
          </a:ln>
        </p:spPr>
      </p:sp>
      <p:sp>
        <p:nvSpPr>
          <p:cNvPr id="64" name="Shape 62"/>
          <p:cNvSpPr/>
          <p:nvPr/>
        </p:nvSpPr>
        <p:spPr>
          <a:xfrm>
            <a:off x="6510528" y="4800600"/>
            <a:ext cx="0" cy="18288"/>
          </a:xfrm>
          <a:prstGeom prst="line">
            <a:avLst/>
          </a:prstGeom>
          <a:noFill/>
          <a:ln w="19050">
            <a:solidFill>
              <a:srgbClr val="00A878"/>
            </a:solidFill>
            <a:prstDash val="solid"/>
          </a:ln>
        </p:spPr>
      </p:sp>
      <p:sp>
        <p:nvSpPr>
          <p:cNvPr id="65" name="Text 63"/>
          <p:cNvSpPr txBox="1"/>
          <p:nvPr/>
        </p:nvSpPr>
        <p:spPr>
          <a:xfrm>
            <a:off x="7866583" y="4681728"/>
            <a:ext cx="161848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680" b="1" dirty="0">
                <a:solidFill>
                  <a:srgbClr val="00A8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↻ ciclo autónomo con evidencia</a:t>
            </a:r>
            <a:endParaRPr lang="en-US" sz="680" dirty="0"/>
          </a:p>
        </p:txBody>
      </p:sp>
      <p:sp>
        <p:nvSpPr>
          <p:cNvPr id="66" name="Shape 64"/>
          <p:cNvSpPr/>
          <p:nvPr/>
        </p:nvSpPr>
        <p:spPr>
          <a:xfrm>
            <a:off x="7165238" y="5047488"/>
            <a:ext cx="2805379" cy="347472"/>
          </a:xfrm>
          <a:prstGeom prst="roundRect">
            <a:avLst/>
          </a:prstGeom>
          <a:solidFill>
            <a:srgbClr val="FFF2E8"/>
          </a:solidFill>
          <a:ln w="12700">
            <a:solidFill>
              <a:srgbClr val="FF7800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7238390" y="5111496"/>
            <a:ext cx="201168" cy="201168"/>
          </a:xfrm>
          <a:prstGeom prst="ellipse">
            <a:avLst/>
          </a:prstGeom>
          <a:solidFill>
            <a:srgbClr val="FF7800"/>
          </a:solidFill>
          <a:ln w="12700">
            <a:solidFill>
              <a:srgbClr val="FF7800"/>
            </a:solidFill>
            <a:prstDash val="solid"/>
          </a:ln>
        </p:spPr>
      </p:sp>
      <p:sp>
        <p:nvSpPr>
          <p:cNvPr id="68" name="Text 66"/>
          <p:cNvSpPr txBox="1"/>
          <p:nvPr/>
        </p:nvSpPr>
        <p:spPr>
          <a:xfrm>
            <a:off x="7238390" y="5143500"/>
            <a:ext cx="20116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</a:t>
            </a:r>
            <a:endParaRPr lang="en-US" sz="750" dirty="0"/>
          </a:p>
        </p:txBody>
      </p:sp>
      <p:sp>
        <p:nvSpPr>
          <p:cNvPr id="69" name="Text 67"/>
          <p:cNvSpPr txBox="1"/>
          <p:nvPr/>
        </p:nvSpPr>
        <p:spPr>
          <a:xfrm>
            <a:off x="7494422" y="5138928"/>
            <a:ext cx="2403043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660" b="1" dirty="0">
                <a:solidFill>
                  <a:srgbClr val="1822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Human Feedback / retroalimentación: reconocer · silenciar · ajustar umbral · circuit breaker</a:t>
            </a:r>
            <a:endParaRPr lang="en-US" sz="660" dirty="0"/>
          </a:p>
        </p:txBody>
      </p:sp>
      <p:sp>
        <p:nvSpPr>
          <p:cNvPr id="70" name="Shape 68"/>
          <p:cNvSpPr/>
          <p:nvPr/>
        </p:nvSpPr>
        <p:spPr>
          <a:xfrm>
            <a:off x="8567928" y="5047488"/>
            <a:ext cx="0" cy="-201168"/>
          </a:xfrm>
          <a:prstGeom prst="line">
            <a:avLst/>
          </a:prstGeom>
          <a:noFill/>
          <a:ln w="15240">
            <a:solidFill>
              <a:srgbClr val="FF7800"/>
            </a:solidFill>
            <a:prstDash val="dash"/>
            <a:headEnd type="triangle"/>
            <a:tailEnd type="triangle"/>
          </a:ln>
        </p:spPr>
      </p:sp>
      <p:sp>
        <p:nvSpPr>
          <p:cNvPr id="71" name="Text 69"/>
          <p:cNvSpPr txBox="1"/>
          <p:nvPr/>
        </p:nvSpPr>
        <p:spPr>
          <a:xfrm>
            <a:off x="5806440" y="5486400"/>
            <a:ext cx="55046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50" b="1" dirty="0">
                <a:solidFill>
                  <a:srgbClr val="1822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ATENCIONES: confirmar · priorizar · capturar evidencia · avisar al centro de control · despachar patrulla o mantenimiento · escalar · reportar. AI-for-Good: SASPe activa escaneo y reporte INDECI/SINPAD; agua y laderas alertan. BASE: ActionLog · LLM-as-judge · circuit breaker · zero-backend.</a:t>
            </a:r>
            <a:endParaRPr lang="en-US" sz="650" dirty="0"/>
          </a:p>
        </p:txBody>
      </p:sp>
      <p:sp>
        <p:nvSpPr>
          <p:cNvPr id="72" name="Shape 70"/>
          <p:cNvSpPr/>
          <p:nvPr/>
        </p:nvSpPr>
        <p:spPr>
          <a:xfrm>
            <a:off x="7699248" y="5861304"/>
            <a:ext cx="2560320" cy="228600"/>
          </a:xfrm>
          <a:prstGeom prst="roundRect">
            <a:avLst/>
          </a:prstGeom>
          <a:solidFill>
            <a:srgbClr val="FF7800"/>
          </a:solidFill>
          <a:ln w="7620">
            <a:solidFill>
              <a:srgbClr val="FF7800"/>
            </a:solidFill>
            <a:prstDash val="solid"/>
          </a:ln>
        </p:spPr>
      </p:sp>
      <p:sp>
        <p:nvSpPr>
          <p:cNvPr id="73" name="Text 71"/>
          <p:cNvSpPr txBox="1"/>
          <p:nvPr/>
        </p:nvSpPr>
        <p:spPr>
          <a:xfrm>
            <a:off x="7735824" y="5902452"/>
            <a:ext cx="24871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4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DIFERENCIAL: DE “VER” A “RESOLVER EL CASO”</a:t>
            </a:r>
            <a:endParaRPr lang="en-US" sz="74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70">
                <a:solidFill>
                  <a:srgbClr val="AAB3C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256032"/>
            <a:ext cx="475488" cy="329184"/>
          </a:xfrm>
          <a:prstGeom prst="roundRect">
            <a:avLst/>
          </a:prstGeom>
          <a:solidFill>
            <a:srgbClr val="0A2A66"/>
          </a:solidFill>
          <a:ln w="12700">
            <a:solidFill>
              <a:srgbClr val="0A2A6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30352" y="338328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5400000">
            <a:off x="795528" y="329184"/>
            <a:ext cx="164592" cy="164592"/>
          </a:xfrm>
          <a:prstGeom prst="triangle">
            <a:avLst/>
          </a:prstGeom>
          <a:solidFill>
            <a:srgbClr val="FF7800"/>
          </a:solidFill>
          <a:ln w="12700">
            <a:solidFill>
              <a:srgbClr val="FF780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24128" y="219456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20" b="1" dirty="0">
                <a:solidFill>
                  <a:srgbClr val="FF78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ALTERNATIVA 3 · PORTAFOLIO EJECUTIVO</a:t>
            </a:r>
            <a:endParaRPr lang="en-US" sz="82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438912"/>
            <a:ext cx="10698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0A2A6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Una hoja de ruta de capacidades para convertir las cámaras de sedes en una plataforma de prevención, operación y respuesta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1024128" y="905256"/>
            <a:ext cx="10469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10" dirty="0">
                <a:solidFill>
                  <a:srgbClr val="4A55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Versión más densa para decisión: combina el flujo en Z con el valor incremental y un portafolio comercial + AI-for-Good sobre una arquitectura común.</a:t>
            </a:r>
            <a:endParaRPr lang="en-US" sz="1010" dirty="0"/>
          </a:p>
        </p:txBody>
      </p:sp>
      <p:sp>
        <p:nvSpPr>
          <p:cNvPr id="8" name="Shape 6"/>
          <p:cNvSpPr/>
          <p:nvPr/>
        </p:nvSpPr>
        <p:spPr>
          <a:xfrm>
            <a:off x="2697480" y="1993392"/>
            <a:ext cx="365760" cy="0"/>
          </a:xfrm>
          <a:prstGeom prst="line">
            <a:avLst/>
          </a:prstGeom>
          <a:noFill/>
          <a:ln w="50800">
            <a:solidFill>
              <a:srgbClr val="7B8799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6848856" y="2148840"/>
            <a:ext cx="-6144768" cy="969264"/>
          </a:xfrm>
          <a:prstGeom prst="line">
            <a:avLst/>
          </a:prstGeom>
          <a:noFill/>
          <a:ln w="50800">
            <a:solidFill>
              <a:srgbClr val="7B8799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3621024" y="3675888"/>
            <a:ext cx="265176" cy="0"/>
          </a:xfrm>
          <a:prstGeom prst="line">
            <a:avLst/>
          </a:prstGeom>
          <a:noFill/>
          <a:ln w="63500">
            <a:solidFill>
              <a:srgbClr val="FF7800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457200" y="1353312"/>
            <a:ext cx="233172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E8798"/>
            </a:solidFill>
            <a:prstDash val="solid"/>
          </a:ln>
          <a:effectLst>
            <a:outerShdw sx="100000" sy="100000" kx="0" ky="0" algn="bl" rotWithShape="0" blurRad="12700" dist="50800" dir="2700000">
              <a:srgbClr val="7A8799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" y="1353312"/>
            <a:ext cx="73152" cy="1280160"/>
          </a:xfrm>
          <a:prstGeom prst="rect">
            <a:avLst/>
          </a:prstGeom>
          <a:solidFill>
            <a:srgbClr val="7E8798"/>
          </a:solidFill>
          <a:ln w="12700">
            <a:solidFill>
              <a:srgbClr val="7E879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1792" y="1508760"/>
            <a:ext cx="256032" cy="228600"/>
          </a:xfrm>
          <a:prstGeom prst="roundRect">
            <a:avLst/>
          </a:prstGeom>
          <a:solidFill>
            <a:srgbClr val="7E8798"/>
          </a:solidFill>
          <a:ln w="7620">
            <a:solidFill>
              <a:srgbClr val="7E879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58368" y="1549908"/>
            <a:ext cx="182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750" dirty="0"/>
          </a:p>
        </p:txBody>
      </p:sp>
      <p:sp>
        <p:nvSpPr>
          <p:cNvPr id="15" name="Text 13"/>
          <p:cNvSpPr txBox="1"/>
          <p:nvPr/>
        </p:nvSpPr>
        <p:spPr>
          <a:xfrm>
            <a:off x="969264" y="1508760"/>
            <a:ext cx="16550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30" b="1" dirty="0">
                <a:solidFill>
                  <a:srgbClr val="0A2A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LÓGICA TRADICIONAL</a:t>
            </a:r>
            <a:endParaRPr lang="en-US" sz="1030" dirty="0"/>
          </a:p>
        </p:txBody>
      </p:sp>
      <p:sp>
        <p:nvSpPr>
          <p:cNvPr id="16" name="Text 14"/>
          <p:cNvSpPr txBox="1"/>
          <p:nvPr/>
        </p:nvSpPr>
        <p:spPr>
          <a:xfrm>
            <a:off x="621792" y="1847088"/>
            <a:ext cx="2002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4A55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Reglas de horario, línea, ROI, permanencia y umbral.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621792" y="2322576"/>
            <a:ext cx="2002536" cy="228600"/>
          </a:xfrm>
          <a:prstGeom prst="roundRect">
            <a:avLst/>
          </a:prstGeom>
          <a:solidFill>
            <a:srgbClr val="7E8798"/>
          </a:solidFill>
          <a:ln w="7620">
            <a:solidFill>
              <a:srgbClr val="7E8798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58368" y="2363724"/>
            <a:ext cx="19293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1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Control auditable</a:t>
            </a:r>
            <a:endParaRPr lang="en-US" sz="710" dirty="0"/>
          </a:p>
        </p:txBody>
      </p:sp>
      <p:sp>
        <p:nvSpPr>
          <p:cNvPr id="19" name="Shape 17"/>
          <p:cNvSpPr/>
          <p:nvPr/>
        </p:nvSpPr>
        <p:spPr>
          <a:xfrm>
            <a:off x="3063240" y="1353312"/>
            <a:ext cx="3767328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A8E8"/>
            </a:solidFill>
            <a:prstDash val="solid"/>
          </a:ln>
          <a:effectLst>
            <a:outerShdw sx="100000" sy="100000" kx="0" ky="0" algn="bl" rotWithShape="0" blurRad="12700" dist="50800" dir="2700000">
              <a:srgbClr val="7A8799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063240" y="1353312"/>
            <a:ext cx="73152" cy="1280160"/>
          </a:xfrm>
          <a:prstGeom prst="rect">
            <a:avLst/>
          </a:prstGeom>
          <a:solidFill>
            <a:srgbClr val="00A8E8"/>
          </a:solidFill>
          <a:ln w="12700">
            <a:solidFill>
              <a:srgbClr val="00A8E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27832" y="1508760"/>
            <a:ext cx="256032" cy="228600"/>
          </a:xfrm>
          <a:prstGeom prst="roundRect">
            <a:avLst/>
          </a:prstGeom>
          <a:solidFill>
            <a:srgbClr val="00A8E8"/>
          </a:solidFill>
          <a:ln w="7620">
            <a:solidFill>
              <a:srgbClr val="00A8E8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3264408" y="1549908"/>
            <a:ext cx="182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750" dirty="0"/>
          </a:p>
        </p:txBody>
      </p:sp>
      <p:sp>
        <p:nvSpPr>
          <p:cNvPr id="23" name="Text 21"/>
          <p:cNvSpPr txBox="1"/>
          <p:nvPr/>
        </p:nvSpPr>
        <p:spPr>
          <a:xfrm>
            <a:off x="3575304" y="1508760"/>
            <a:ext cx="3090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30" b="1" dirty="0">
                <a:solidFill>
                  <a:srgbClr val="0A2A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ML / DEEP LEARNING</a:t>
            </a:r>
            <a:endParaRPr lang="en-US" sz="1030" dirty="0"/>
          </a:p>
        </p:txBody>
      </p:sp>
      <p:sp>
        <p:nvSpPr>
          <p:cNvPr id="24" name="Text 22"/>
          <p:cNvSpPr txBox="1"/>
          <p:nvPr/>
        </p:nvSpPr>
        <p:spPr>
          <a:xfrm>
            <a:off x="3227832" y="1847088"/>
            <a:ext cx="34381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4A55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Clasifica, detecta, segmenta, sigue trayectorias y puntúa anomalías en todo el portafolio.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3227832" y="2322576"/>
            <a:ext cx="3438144" cy="228600"/>
          </a:xfrm>
          <a:prstGeom prst="roundRect">
            <a:avLst/>
          </a:prstGeom>
          <a:solidFill>
            <a:srgbClr val="00A8E8"/>
          </a:solidFill>
          <a:ln w="7620">
            <a:solidFill>
              <a:srgbClr val="00A8E8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3264408" y="2363724"/>
            <a:ext cx="33649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1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Percepción a escala</a:t>
            </a:r>
            <a:endParaRPr lang="en-US" sz="710" dirty="0"/>
          </a:p>
        </p:txBody>
      </p:sp>
      <p:sp>
        <p:nvSpPr>
          <p:cNvPr id="27" name="Shape 25"/>
          <p:cNvSpPr/>
          <p:nvPr/>
        </p:nvSpPr>
        <p:spPr>
          <a:xfrm>
            <a:off x="457200" y="3035808"/>
            <a:ext cx="315468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7800"/>
            </a:solidFill>
            <a:prstDash val="solid"/>
          </a:ln>
          <a:effectLst>
            <a:outerShdw sx="100000" sy="100000" kx="0" ky="0" algn="bl" rotWithShape="0" blurRad="12700" dist="50800" dir="2700000">
              <a:srgbClr val="7A8799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57200" y="3035808"/>
            <a:ext cx="73152" cy="1280160"/>
          </a:xfrm>
          <a:prstGeom prst="rect">
            <a:avLst/>
          </a:prstGeom>
          <a:solidFill>
            <a:srgbClr val="FF7800"/>
          </a:solidFill>
          <a:ln w="12700">
            <a:solidFill>
              <a:srgbClr val="FF780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21792" y="3191256"/>
            <a:ext cx="256032" cy="228600"/>
          </a:xfrm>
          <a:prstGeom prst="roundRect">
            <a:avLst/>
          </a:prstGeom>
          <a:solidFill>
            <a:srgbClr val="FF7800"/>
          </a:solidFill>
          <a:ln w="7620">
            <a:solidFill>
              <a:srgbClr val="FF7800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58368" y="3232404"/>
            <a:ext cx="182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750" dirty="0"/>
          </a:p>
        </p:txBody>
      </p:sp>
      <p:sp>
        <p:nvSpPr>
          <p:cNvPr id="31" name="Text 29"/>
          <p:cNvSpPr txBox="1"/>
          <p:nvPr/>
        </p:nvSpPr>
        <p:spPr>
          <a:xfrm>
            <a:off x="969264" y="3191256"/>
            <a:ext cx="24780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30" b="1" dirty="0">
                <a:solidFill>
                  <a:srgbClr val="0A2A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IA GENERATIVA</a:t>
            </a:r>
            <a:endParaRPr lang="en-US" sz="1030" dirty="0"/>
          </a:p>
        </p:txBody>
      </p:sp>
      <p:sp>
        <p:nvSpPr>
          <p:cNvPr id="32" name="Text 30"/>
          <p:cNvSpPr txBox="1"/>
          <p:nvPr/>
        </p:nvSpPr>
        <p:spPr>
          <a:xfrm>
            <a:off x="621792" y="3529584"/>
            <a:ext cx="28254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4A55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Interpreta, resume, traduce, consulta y redacta evidencia.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621792" y="4005072"/>
            <a:ext cx="2825496" cy="228600"/>
          </a:xfrm>
          <a:prstGeom prst="roundRect">
            <a:avLst/>
          </a:prstGeom>
          <a:solidFill>
            <a:srgbClr val="FF7800"/>
          </a:solidFill>
          <a:ln w="7620">
            <a:solidFill>
              <a:srgbClr val="FF7800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658368" y="4046220"/>
            <a:ext cx="275234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1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Contexto accionable</a:t>
            </a:r>
            <a:endParaRPr lang="en-US" sz="710" dirty="0"/>
          </a:p>
        </p:txBody>
      </p:sp>
      <p:sp>
        <p:nvSpPr>
          <p:cNvPr id="35" name="Shape 33"/>
          <p:cNvSpPr/>
          <p:nvPr/>
        </p:nvSpPr>
        <p:spPr>
          <a:xfrm>
            <a:off x="3886200" y="3035808"/>
            <a:ext cx="7845552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A878"/>
            </a:solidFill>
            <a:prstDash val="solid"/>
          </a:ln>
          <a:effectLst>
            <a:outerShdw sx="100000" sy="100000" kx="0" ky="0" algn="bl" rotWithShape="0" blurRad="12700" dist="50800" dir="2700000">
              <a:srgbClr val="7A8799">
                <a:alpha val="12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3886200" y="3035808"/>
            <a:ext cx="73152" cy="1280160"/>
          </a:xfrm>
          <a:prstGeom prst="rect">
            <a:avLst/>
          </a:prstGeom>
          <a:solidFill>
            <a:srgbClr val="00A878"/>
          </a:solidFill>
          <a:ln w="12700">
            <a:solidFill>
              <a:srgbClr val="00A878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050792" y="3191256"/>
            <a:ext cx="256032" cy="228600"/>
          </a:xfrm>
          <a:prstGeom prst="roundRect">
            <a:avLst/>
          </a:prstGeom>
          <a:solidFill>
            <a:srgbClr val="00A878"/>
          </a:solidFill>
          <a:ln w="7620">
            <a:solidFill>
              <a:srgbClr val="00A878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4087368" y="3232404"/>
            <a:ext cx="182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750" dirty="0"/>
          </a:p>
        </p:txBody>
      </p:sp>
      <p:sp>
        <p:nvSpPr>
          <p:cNvPr id="39" name="Text 37"/>
          <p:cNvSpPr txBox="1"/>
          <p:nvPr/>
        </p:nvSpPr>
        <p:spPr>
          <a:xfrm>
            <a:off x="4398264" y="3191256"/>
            <a:ext cx="7168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30" b="1" dirty="0">
                <a:solidFill>
                  <a:srgbClr val="0A2A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IA AGENTIC</a:t>
            </a:r>
            <a:endParaRPr lang="en-US" sz="1030" dirty="0"/>
          </a:p>
        </p:txBody>
      </p:sp>
      <p:sp>
        <p:nvSpPr>
          <p:cNvPr id="40" name="Text 38"/>
          <p:cNvSpPr txBox="1"/>
          <p:nvPr/>
        </p:nvSpPr>
        <p:spPr>
          <a:xfrm>
            <a:off x="4050792" y="3529584"/>
            <a:ext cx="7516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4A55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Orquesta los doce escenarios; en sismo: SASPe → webhook → escaneo → INDECI. ActionLog y gobierno humano.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4050792" y="4005072"/>
            <a:ext cx="7516368" cy="228600"/>
          </a:xfrm>
          <a:prstGeom prst="roundRect">
            <a:avLst/>
          </a:prstGeom>
          <a:solidFill>
            <a:srgbClr val="00A878"/>
          </a:solidFill>
          <a:ln w="7620">
            <a:solidFill>
              <a:srgbClr val="00A878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4087368" y="4046220"/>
            <a:ext cx="744321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1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Ejecución end-to-end</a:t>
            </a:r>
            <a:endParaRPr lang="en-US" sz="710" dirty="0"/>
          </a:p>
        </p:txBody>
      </p:sp>
      <p:sp>
        <p:nvSpPr>
          <p:cNvPr id="43" name="Shape 41"/>
          <p:cNvSpPr/>
          <p:nvPr/>
        </p:nvSpPr>
        <p:spPr>
          <a:xfrm>
            <a:off x="457200" y="4590288"/>
            <a:ext cx="6400800" cy="14904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FE9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658368" y="4736592"/>
            <a:ext cx="59984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70" b="1" dirty="0">
                <a:solidFill>
                  <a:srgbClr val="0A2A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PORTAFOLIO DE VALOR PARA SEGURIDAD DE SEDES</a:t>
            </a:r>
            <a:endParaRPr lang="en-US" sz="1070" dirty="0"/>
          </a:p>
        </p:txBody>
      </p:sp>
      <p:sp>
        <p:nvSpPr>
          <p:cNvPr id="45" name="Text 43"/>
          <p:cNvSpPr txBox="1"/>
          <p:nvPr/>
        </p:nvSpPr>
        <p:spPr>
          <a:xfrm>
            <a:off x="658368" y="5074920"/>
            <a:ext cx="18562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30" b="1" dirty="0">
                <a:solidFill>
                  <a:srgbClr val="0A2A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PREVENIR Y DISUADIR</a:t>
            </a:r>
            <a:endParaRPr lang="en-US" sz="730" dirty="0"/>
          </a:p>
        </p:txBody>
      </p:sp>
      <p:sp>
        <p:nvSpPr>
          <p:cNvPr id="46" name="Text 44"/>
          <p:cNvSpPr txBox="1"/>
          <p:nvPr/>
        </p:nvSpPr>
        <p:spPr>
          <a:xfrm>
            <a:off x="658368" y="5330952"/>
            <a:ext cx="18562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20" dirty="0">
                <a:solidFill>
                  <a:srgbClr val="4A55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Intrusión, merodeo, vehículo fuera de horario, perímetro térmico, graffiti y objeto abandonado.</a:t>
            </a:r>
            <a:endParaRPr lang="en-US" sz="720" dirty="0"/>
          </a:p>
        </p:txBody>
      </p:sp>
      <p:sp>
        <p:nvSpPr>
          <p:cNvPr id="47" name="Shape 45"/>
          <p:cNvSpPr/>
          <p:nvPr/>
        </p:nvSpPr>
        <p:spPr>
          <a:xfrm>
            <a:off x="2532888" y="5074920"/>
            <a:ext cx="0" cy="749808"/>
          </a:xfrm>
          <a:prstGeom prst="line">
            <a:avLst/>
          </a:prstGeom>
          <a:noFill/>
          <a:ln w="12700">
            <a:solidFill>
              <a:srgbClr val="D8DFE9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2624328" y="5074920"/>
            <a:ext cx="1874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30" b="1" dirty="0">
                <a:solidFill>
                  <a:srgbClr val="0A2A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OPERAR MEJOR</a:t>
            </a:r>
            <a:endParaRPr lang="en-US" sz="730" dirty="0"/>
          </a:p>
        </p:txBody>
      </p:sp>
      <p:sp>
        <p:nvSpPr>
          <p:cNvPr id="49" name="Text 47"/>
          <p:cNvSpPr txBox="1"/>
          <p:nvPr/>
        </p:nvSpPr>
        <p:spPr>
          <a:xfrm>
            <a:off x="2624328" y="5330952"/>
            <a:ext cx="1874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20" dirty="0">
                <a:solidFill>
                  <a:srgbClr val="4A55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Estacionamientos y bahías, aforo, colas, permanencia, BI/conversión, flujo peatonal y piso mojado.</a:t>
            </a:r>
            <a:endParaRPr lang="en-US" sz="720" dirty="0"/>
          </a:p>
        </p:txBody>
      </p:sp>
      <p:sp>
        <p:nvSpPr>
          <p:cNvPr id="50" name="Shape 48"/>
          <p:cNvSpPr/>
          <p:nvPr/>
        </p:nvSpPr>
        <p:spPr>
          <a:xfrm>
            <a:off x="4526280" y="5074920"/>
            <a:ext cx="0" cy="749808"/>
          </a:xfrm>
          <a:prstGeom prst="line">
            <a:avLst/>
          </a:prstGeom>
          <a:noFill/>
          <a:ln w="12700">
            <a:solidFill>
              <a:srgbClr val="D8DFE9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4617720" y="5074920"/>
            <a:ext cx="19933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30" b="1" dirty="0">
                <a:solidFill>
                  <a:srgbClr val="FF78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RESPONDER Y RECUPERAR</a:t>
            </a:r>
            <a:endParaRPr lang="en-US" sz="730" dirty="0"/>
          </a:p>
        </p:txBody>
      </p:sp>
      <p:sp>
        <p:nvSpPr>
          <p:cNvPr id="52" name="Text 50"/>
          <p:cNvSpPr txBox="1"/>
          <p:nvPr/>
        </p:nvSpPr>
        <p:spPr>
          <a:xfrm>
            <a:off x="4617720" y="5330952"/>
            <a:ext cx="19933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20" dirty="0">
                <a:solidFill>
                  <a:srgbClr val="4A55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Fuego/humo, inundación, huaico y daño post-sismo con evidencia, escalamiento y reporte.</a:t>
            </a:r>
            <a:endParaRPr lang="en-US" sz="720" dirty="0"/>
          </a:p>
        </p:txBody>
      </p:sp>
      <p:sp>
        <p:nvSpPr>
          <p:cNvPr id="53" name="Shape 51"/>
          <p:cNvSpPr/>
          <p:nvPr/>
        </p:nvSpPr>
        <p:spPr>
          <a:xfrm>
            <a:off x="7114032" y="4590288"/>
            <a:ext cx="4617720" cy="1490472"/>
          </a:xfrm>
          <a:prstGeom prst="roundRect">
            <a:avLst/>
          </a:prstGeom>
          <a:solidFill>
            <a:srgbClr val="F0FBF6"/>
          </a:solidFill>
          <a:ln w="12700">
            <a:solidFill>
              <a:srgbClr val="00A878"/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7333488" y="4736592"/>
            <a:ext cx="41696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00A8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DIFERENCIAL AGENTIC: CERRAR EL LOOP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7360920" y="5102352"/>
            <a:ext cx="731520" cy="731520"/>
          </a:xfrm>
          <a:prstGeom prst="ellipse">
            <a:avLst/>
          </a:prstGeom>
          <a:solidFill>
            <a:srgbClr val="FFFFFF"/>
          </a:solidFill>
          <a:ln w="16510">
            <a:solidFill>
              <a:srgbClr val="00A878"/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7397496" y="5266944"/>
            <a:ext cx="65836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650" b="1" dirty="0">
                <a:solidFill>
                  <a:srgbClr val="00A8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PERCIBE</a:t>
            </a:r>
            <a:endParaRPr lang="en-US" sz="650" dirty="0"/>
          </a:p>
        </p:txBody>
      </p:sp>
      <p:sp>
        <p:nvSpPr>
          <p:cNvPr id="57" name="Text 55"/>
          <p:cNvSpPr txBox="1"/>
          <p:nvPr/>
        </p:nvSpPr>
        <p:spPr>
          <a:xfrm>
            <a:off x="7406640" y="5431536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470" dirty="0">
                <a:solidFill>
                  <a:srgbClr val="4A55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TF.js COCO-SSD / YOLOv8-seg / YOLOv11</a:t>
            </a:r>
            <a:endParaRPr lang="en-US" sz="470" dirty="0"/>
          </a:p>
        </p:txBody>
      </p:sp>
      <p:sp>
        <p:nvSpPr>
          <p:cNvPr id="58" name="Shape 56"/>
          <p:cNvSpPr/>
          <p:nvPr/>
        </p:nvSpPr>
        <p:spPr>
          <a:xfrm>
            <a:off x="8092440" y="5468112"/>
            <a:ext cx="292608" cy="0"/>
          </a:xfrm>
          <a:prstGeom prst="line">
            <a:avLst/>
          </a:prstGeom>
          <a:noFill/>
          <a:ln w="17780">
            <a:solidFill>
              <a:srgbClr val="00A878"/>
            </a:solidFill>
            <a:prstDash val="solid"/>
            <a:tailEnd type="triangle"/>
          </a:ln>
        </p:spPr>
      </p:sp>
      <p:sp>
        <p:nvSpPr>
          <p:cNvPr id="59" name="Shape 57"/>
          <p:cNvSpPr/>
          <p:nvPr/>
        </p:nvSpPr>
        <p:spPr>
          <a:xfrm>
            <a:off x="8385048" y="5102352"/>
            <a:ext cx="731520" cy="731520"/>
          </a:xfrm>
          <a:prstGeom prst="ellipse">
            <a:avLst/>
          </a:prstGeom>
          <a:solidFill>
            <a:srgbClr val="FFFFFF"/>
          </a:solidFill>
          <a:ln w="16510">
            <a:solidFill>
              <a:srgbClr val="00A878"/>
            </a:solidFill>
            <a:prstDash val="solid"/>
          </a:ln>
        </p:spPr>
      </p:sp>
      <p:sp>
        <p:nvSpPr>
          <p:cNvPr id="60" name="Text 58"/>
          <p:cNvSpPr txBox="1"/>
          <p:nvPr/>
        </p:nvSpPr>
        <p:spPr>
          <a:xfrm>
            <a:off x="8421624" y="5266944"/>
            <a:ext cx="65836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650" b="1" dirty="0">
                <a:solidFill>
                  <a:srgbClr val="00A8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RAZONA</a:t>
            </a:r>
            <a:endParaRPr lang="en-US" sz="650" dirty="0"/>
          </a:p>
        </p:txBody>
      </p:sp>
      <p:sp>
        <p:nvSpPr>
          <p:cNvPr id="61" name="Text 59"/>
          <p:cNvSpPr txBox="1"/>
          <p:nvPr/>
        </p:nvSpPr>
        <p:spPr>
          <a:xfrm>
            <a:off x="8430768" y="5431536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470" dirty="0">
                <a:solidFill>
                  <a:srgbClr val="4A55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reglas + LLM-as-judge</a:t>
            </a:r>
            <a:endParaRPr lang="en-US" sz="470" dirty="0"/>
          </a:p>
        </p:txBody>
      </p:sp>
      <p:sp>
        <p:nvSpPr>
          <p:cNvPr id="62" name="Shape 60"/>
          <p:cNvSpPr/>
          <p:nvPr/>
        </p:nvSpPr>
        <p:spPr>
          <a:xfrm>
            <a:off x="9116568" y="5468112"/>
            <a:ext cx="292608" cy="0"/>
          </a:xfrm>
          <a:prstGeom prst="line">
            <a:avLst/>
          </a:prstGeom>
          <a:noFill/>
          <a:ln w="17780">
            <a:solidFill>
              <a:srgbClr val="00A878"/>
            </a:solidFill>
            <a:prstDash val="solid"/>
            <a:tailEnd type="triangle"/>
          </a:ln>
        </p:spPr>
      </p:sp>
      <p:sp>
        <p:nvSpPr>
          <p:cNvPr id="63" name="Shape 61"/>
          <p:cNvSpPr/>
          <p:nvPr/>
        </p:nvSpPr>
        <p:spPr>
          <a:xfrm>
            <a:off x="9409176" y="5102352"/>
            <a:ext cx="731520" cy="731520"/>
          </a:xfrm>
          <a:prstGeom prst="ellipse">
            <a:avLst/>
          </a:prstGeom>
          <a:solidFill>
            <a:srgbClr val="FFFFFF"/>
          </a:solidFill>
          <a:ln w="16510">
            <a:solidFill>
              <a:srgbClr val="00A878"/>
            </a:solidFill>
            <a:prstDash val="solid"/>
          </a:ln>
        </p:spPr>
      </p:sp>
      <p:sp>
        <p:nvSpPr>
          <p:cNvPr id="64" name="Text 62"/>
          <p:cNvSpPr txBox="1"/>
          <p:nvPr/>
        </p:nvSpPr>
        <p:spPr>
          <a:xfrm>
            <a:off x="9445752" y="5266944"/>
            <a:ext cx="65836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650" b="1" dirty="0">
                <a:solidFill>
                  <a:srgbClr val="00A8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ACTÚA</a:t>
            </a:r>
            <a:endParaRPr lang="en-US" sz="650" dirty="0"/>
          </a:p>
        </p:txBody>
      </p:sp>
      <p:sp>
        <p:nvSpPr>
          <p:cNvPr id="65" name="Text 63"/>
          <p:cNvSpPr txBox="1"/>
          <p:nvPr/>
        </p:nvSpPr>
        <p:spPr>
          <a:xfrm>
            <a:off x="9454896" y="5431536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470" dirty="0">
                <a:solidFill>
                  <a:srgbClr val="4A55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tool registry</a:t>
            </a:r>
            <a:endParaRPr lang="en-US" sz="470" dirty="0"/>
          </a:p>
        </p:txBody>
      </p:sp>
      <p:sp>
        <p:nvSpPr>
          <p:cNvPr id="66" name="Shape 64"/>
          <p:cNvSpPr/>
          <p:nvPr/>
        </p:nvSpPr>
        <p:spPr>
          <a:xfrm>
            <a:off x="10140696" y="5468112"/>
            <a:ext cx="292608" cy="0"/>
          </a:xfrm>
          <a:prstGeom prst="line">
            <a:avLst/>
          </a:prstGeom>
          <a:noFill/>
          <a:ln w="17780">
            <a:solidFill>
              <a:srgbClr val="00A878"/>
            </a:solidFill>
            <a:prstDash val="solid"/>
            <a:tailEnd type="triangle"/>
          </a:ln>
        </p:spPr>
      </p:sp>
      <p:sp>
        <p:nvSpPr>
          <p:cNvPr id="67" name="Shape 65"/>
          <p:cNvSpPr/>
          <p:nvPr/>
        </p:nvSpPr>
        <p:spPr>
          <a:xfrm>
            <a:off x="10433304" y="5102352"/>
            <a:ext cx="731520" cy="731520"/>
          </a:xfrm>
          <a:prstGeom prst="ellipse">
            <a:avLst/>
          </a:prstGeom>
          <a:solidFill>
            <a:srgbClr val="FFF2E8"/>
          </a:solidFill>
          <a:ln w="16510">
            <a:solidFill>
              <a:srgbClr val="FF7800"/>
            </a:solidFill>
            <a:prstDash val="solid"/>
          </a:ln>
        </p:spPr>
      </p:sp>
      <p:sp>
        <p:nvSpPr>
          <p:cNvPr id="68" name="Text 66"/>
          <p:cNvSpPr txBox="1"/>
          <p:nvPr/>
        </p:nvSpPr>
        <p:spPr>
          <a:xfrm>
            <a:off x="10469880" y="5266944"/>
            <a:ext cx="65836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650" b="1" dirty="0">
                <a:solidFill>
                  <a:srgbClr val="FF78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REFLEXIONA</a:t>
            </a:r>
            <a:endParaRPr lang="en-US" sz="650" dirty="0"/>
          </a:p>
        </p:txBody>
      </p:sp>
      <p:sp>
        <p:nvSpPr>
          <p:cNvPr id="69" name="Text 67"/>
          <p:cNvSpPr txBox="1"/>
          <p:nvPr/>
        </p:nvSpPr>
        <p:spPr>
          <a:xfrm>
            <a:off x="10479024" y="5431536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470" dirty="0">
                <a:solidFill>
                  <a:srgbClr val="4A55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self-correct + Human Feedback</a:t>
            </a:r>
            <a:endParaRPr lang="en-US" sz="470" dirty="0"/>
          </a:p>
        </p:txBody>
      </p:sp>
      <p:sp>
        <p:nvSpPr>
          <p:cNvPr id="70" name="Text 68"/>
          <p:cNvSpPr txBox="1"/>
          <p:nvPr/>
        </p:nvSpPr>
        <p:spPr>
          <a:xfrm>
            <a:off x="7863840" y="5907024"/>
            <a:ext cx="30632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650" b="1" dirty="0">
                <a:solidFill>
                  <a:srgbClr val="FF78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ActionLog inmutable · circuit breaker · zero-backend · INDECI/SINPAD</a:t>
            </a:r>
            <a:endParaRPr lang="en-US" sz="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70">
                <a:solidFill>
                  <a:srgbClr val="AAB3C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Vision Agent V2 — Tres alternativas</dc:title>
  <dc:subject>Evolución de inteligencia de cámaras para Seguridad de Sedes BCP</dc:subject>
  <dc:creator>OpenAI</dc:creator>
  <cp:lastModifiedBy>OpenAI</cp:lastModifiedBy>
  <cp:revision>1</cp:revision>
  <dcterms:created xsi:type="dcterms:W3CDTF">2026-07-14T14:21:11Z</dcterms:created>
  <dcterms:modified xsi:type="dcterms:W3CDTF">2026-07-14T14:21:11Z</dcterms:modified>
</cp:coreProperties>
</file>